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69" r:id="rId15"/>
    <p:sldId id="275" r:id="rId16"/>
    <p:sldId id="276" r:id="rId17"/>
    <p:sldId id="277" r:id="rId18"/>
    <p:sldId id="278" r:id="rId19"/>
    <p:sldId id="270" r:id="rId20"/>
    <p:sldId id="271" r:id="rId21"/>
    <p:sldId id="272" r:id="rId22"/>
    <p:sldId id="273" r:id="rId23"/>
    <p:sldId id="274" r:id="rId24"/>
  </p:sldIdLst>
  <p:sldSz cx="18288000" cy="10287000"/>
  <p:notesSz cx="6858000" cy="9144000"/>
  <p:embeddedFontLst>
    <p:embeddedFont>
      <p:font typeface="Prata" panose="020B0604020202020204" charset="0"/>
      <p:regular r:id="rId25"/>
    </p:embeddedFont>
    <p:embeddedFont>
      <p:font typeface="Radley" panose="020B0604020202020204" charset="0"/>
      <p:regular r:id="rId26"/>
    </p:embeddedFont>
    <p:embeddedFont>
      <p:font typeface="Raleway" pitchFamily="2" charset="0"/>
      <p:regular r:id="rId27"/>
      <p:bold r:id="rId28"/>
      <p:italic r:id="rId29"/>
      <p:boldItalic r:id="rId30"/>
    </p:embeddedFont>
    <p:embeddedFont>
      <p:font typeface="Raleway Bold" charset="0"/>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564"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AnujK2901/yt-sum-flask" TargetMode="External"/><Relationship Id="rId2" Type="http://schemas.openxmlformats.org/officeDocument/2006/relationships/hyperlink" Target="https://screenapp.io/features/ai-summarizer" TargetMode="External"/><Relationship Id="rId1" Type="http://schemas.openxmlformats.org/officeDocument/2006/relationships/slideLayout" Target="../slideLayouts/slideLayout7.xml"/><Relationship Id="rId4" Type="http://schemas.openxmlformats.org/officeDocument/2006/relationships/hyperlink" Target="https://medium.com/coding-in-simple-english/how-to-createchrome-extension-7dd396e884ef"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grpSp>
        <p:nvGrpSpPr>
          <p:cNvPr id="2" name="Group 2"/>
          <p:cNvGrpSpPr/>
          <p:nvPr/>
        </p:nvGrpSpPr>
        <p:grpSpPr>
          <a:xfrm>
            <a:off x="16740784" y="0"/>
            <a:ext cx="1547216" cy="10287000"/>
            <a:chOff x="0" y="0"/>
            <a:chExt cx="2062955" cy="13716000"/>
          </a:xfrm>
        </p:grpSpPr>
        <p:sp>
          <p:nvSpPr>
            <p:cNvPr id="3" name="Freeform 3"/>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grpSp>
        <p:nvGrpSpPr>
          <p:cNvPr id="4" name="Group 4"/>
          <p:cNvGrpSpPr/>
          <p:nvPr/>
        </p:nvGrpSpPr>
        <p:grpSpPr>
          <a:xfrm>
            <a:off x="856702" y="631408"/>
            <a:ext cx="1040353" cy="1055556"/>
            <a:chOff x="0" y="0"/>
            <a:chExt cx="1387137" cy="1407408"/>
          </a:xfrm>
        </p:grpSpPr>
        <p:sp>
          <p:nvSpPr>
            <p:cNvPr id="5" name="Freeform 5"/>
            <p:cNvSpPr/>
            <p:nvPr/>
          </p:nvSpPr>
          <p:spPr>
            <a:xfrm>
              <a:off x="0" y="0"/>
              <a:ext cx="1387094" cy="1407414"/>
            </a:xfrm>
            <a:custGeom>
              <a:avLst/>
              <a:gdLst/>
              <a:ahLst/>
              <a:cxnLst/>
              <a:rect l="l" t="t" r="r" b="b"/>
              <a:pathLst>
                <a:path w="1387094" h="1407414">
                  <a:moveTo>
                    <a:pt x="0" y="0"/>
                  </a:moveTo>
                  <a:lnTo>
                    <a:pt x="1387094" y="0"/>
                  </a:lnTo>
                  <a:lnTo>
                    <a:pt x="1387094" y="1407414"/>
                  </a:lnTo>
                  <a:lnTo>
                    <a:pt x="0" y="1407414"/>
                  </a:lnTo>
                  <a:lnTo>
                    <a:pt x="0" y="0"/>
                  </a:lnTo>
                  <a:close/>
                </a:path>
              </a:pathLst>
            </a:custGeom>
            <a:blipFill>
              <a:blip r:embed="rId2"/>
              <a:stretch>
                <a:fillRect t="-1333" r="-3" b="-1332"/>
              </a:stretch>
            </a:blipFill>
          </p:spPr>
        </p:sp>
      </p:grpSp>
      <p:sp>
        <p:nvSpPr>
          <p:cNvPr id="6" name="TextBox 6"/>
          <p:cNvSpPr txBox="1"/>
          <p:nvPr/>
        </p:nvSpPr>
        <p:spPr>
          <a:xfrm>
            <a:off x="1028700" y="2596208"/>
            <a:ext cx="14917811" cy="2895600"/>
          </a:xfrm>
          <a:prstGeom prst="rect">
            <a:avLst/>
          </a:prstGeom>
        </p:spPr>
        <p:txBody>
          <a:bodyPr lIns="0" tIns="0" rIns="0" bIns="0" rtlCol="0" anchor="t">
            <a:spAutoFit/>
          </a:bodyPr>
          <a:lstStyle/>
          <a:p>
            <a:pPr algn="l">
              <a:lnSpc>
                <a:spcPts val="12000"/>
              </a:lnSpc>
            </a:pPr>
            <a:r>
              <a:rPr lang="en-US" sz="12000" dirty="0">
                <a:solidFill>
                  <a:srgbClr val="804F3B"/>
                </a:solidFill>
                <a:latin typeface="Radley"/>
                <a:ea typeface="Radley"/>
                <a:cs typeface="Radley"/>
                <a:sym typeface="Radley"/>
              </a:rPr>
              <a:t>Video Synopsis Generator</a:t>
            </a:r>
          </a:p>
        </p:txBody>
      </p:sp>
      <p:sp>
        <p:nvSpPr>
          <p:cNvPr id="7" name="TextBox 7"/>
          <p:cNvSpPr txBox="1"/>
          <p:nvPr/>
        </p:nvSpPr>
        <p:spPr>
          <a:xfrm>
            <a:off x="1028700" y="7002780"/>
            <a:ext cx="5913783" cy="2043430"/>
          </a:xfrm>
          <a:prstGeom prst="rect">
            <a:avLst/>
          </a:prstGeom>
        </p:spPr>
        <p:txBody>
          <a:bodyPr lIns="0" tIns="0" rIns="0" bIns="0" rtlCol="0" anchor="t">
            <a:spAutoFit/>
          </a:bodyPr>
          <a:lstStyle/>
          <a:p>
            <a:pPr algn="l">
              <a:lnSpc>
                <a:spcPts val="3919"/>
              </a:lnSpc>
            </a:pPr>
            <a:r>
              <a:rPr lang="en-US" sz="2799">
                <a:solidFill>
                  <a:srgbClr val="804F3B"/>
                </a:solidFill>
                <a:latin typeface="Raleway"/>
                <a:ea typeface="Raleway"/>
                <a:cs typeface="Raleway"/>
                <a:sym typeface="Raleway"/>
              </a:rPr>
              <a:t>22SS1A6606 - B RAJA RAJESHWAR</a:t>
            </a:r>
          </a:p>
          <a:p>
            <a:pPr algn="l">
              <a:lnSpc>
                <a:spcPts val="3919"/>
              </a:lnSpc>
            </a:pPr>
            <a:r>
              <a:rPr lang="en-US" sz="2799">
                <a:solidFill>
                  <a:srgbClr val="804F3B"/>
                </a:solidFill>
                <a:latin typeface="Raleway"/>
                <a:ea typeface="Raleway"/>
                <a:cs typeface="Raleway"/>
                <a:sym typeface="Raleway"/>
              </a:rPr>
              <a:t>22SS1A6624 - K SAI MANAS</a:t>
            </a:r>
          </a:p>
          <a:p>
            <a:pPr algn="l">
              <a:lnSpc>
                <a:spcPts val="3919"/>
              </a:lnSpc>
            </a:pPr>
            <a:r>
              <a:rPr lang="en-US" sz="2799">
                <a:solidFill>
                  <a:srgbClr val="804F3B"/>
                </a:solidFill>
                <a:latin typeface="Raleway"/>
                <a:ea typeface="Raleway"/>
                <a:cs typeface="Raleway"/>
                <a:sym typeface="Raleway"/>
              </a:rPr>
              <a:t>22SS1A6642 - N SANJAY VARMA</a:t>
            </a:r>
          </a:p>
          <a:p>
            <a:pPr algn="l">
              <a:lnSpc>
                <a:spcPts val="3919"/>
              </a:lnSpc>
            </a:pPr>
            <a:r>
              <a:rPr lang="en-US" sz="2799">
                <a:solidFill>
                  <a:srgbClr val="804F3B"/>
                </a:solidFill>
                <a:latin typeface="Raleway"/>
                <a:ea typeface="Raleway"/>
                <a:cs typeface="Raleway"/>
                <a:sym typeface="Raleway"/>
              </a:rPr>
              <a:t>22SS1A6659 - V ABHINAY</a:t>
            </a:r>
          </a:p>
        </p:txBody>
      </p:sp>
      <p:sp>
        <p:nvSpPr>
          <p:cNvPr id="8" name="TextBox 8"/>
          <p:cNvSpPr txBox="1"/>
          <p:nvPr/>
        </p:nvSpPr>
        <p:spPr>
          <a:xfrm>
            <a:off x="10269502" y="7002780"/>
            <a:ext cx="5913783" cy="1481430"/>
          </a:xfrm>
          <a:prstGeom prst="rect">
            <a:avLst/>
          </a:prstGeom>
        </p:spPr>
        <p:txBody>
          <a:bodyPr lIns="0" tIns="0" rIns="0" bIns="0" rtlCol="0" anchor="t">
            <a:spAutoFit/>
          </a:bodyPr>
          <a:lstStyle/>
          <a:p>
            <a:pPr algn="l">
              <a:lnSpc>
                <a:spcPts val="3919"/>
              </a:lnSpc>
            </a:pPr>
            <a:r>
              <a:rPr lang="en-US" sz="2799">
                <a:solidFill>
                  <a:srgbClr val="804F3B"/>
                </a:solidFill>
                <a:latin typeface="Raleway"/>
                <a:ea typeface="Raleway"/>
                <a:cs typeface="Raleway"/>
                <a:sym typeface="Raleway"/>
              </a:rPr>
              <a:t>Dr .P. Krupa sagar</a:t>
            </a:r>
          </a:p>
          <a:p>
            <a:pPr algn="l">
              <a:lnSpc>
                <a:spcPts val="3919"/>
              </a:lnSpc>
            </a:pPr>
            <a:r>
              <a:rPr lang="en-US" sz="2799">
                <a:solidFill>
                  <a:srgbClr val="804F3B"/>
                </a:solidFill>
                <a:latin typeface="Raleway"/>
                <a:ea typeface="Raleway"/>
                <a:cs typeface="Raleway"/>
                <a:sym typeface="Raleway"/>
              </a:rPr>
              <a:t>Assistant Professor</a:t>
            </a:r>
          </a:p>
          <a:p>
            <a:pPr algn="l">
              <a:lnSpc>
                <a:spcPts val="3919"/>
              </a:lnSpc>
            </a:pPr>
            <a:r>
              <a:rPr lang="en-US" sz="2799">
                <a:solidFill>
                  <a:srgbClr val="804F3B"/>
                </a:solidFill>
                <a:latin typeface="Raleway"/>
                <a:ea typeface="Raleway"/>
                <a:cs typeface="Raleway"/>
                <a:sym typeface="Raleway"/>
              </a:rPr>
              <a:t>CSE Department</a:t>
            </a:r>
          </a:p>
        </p:txBody>
      </p:sp>
      <p:sp>
        <p:nvSpPr>
          <p:cNvPr id="9" name="TextBox 9"/>
          <p:cNvSpPr txBox="1"/>
          <p:nvPr/>
        </p:nvSpPr>
        <p:spPr>
          <a:xfrm>
            <a:off x="1028700" y="6129026"/>
            <a:ext cx="5913783" cy="557530"/>
          </a:xfrm>
          <a:prstGeom prst="rect">
            <a:avLst/>
          </a:prstGeom>
        </p:spPr>
        <p:txBody>
          <a:bodyPr lIns="0" tIns="0" rIns="0" bIns="0" rtlCol="0" anchor="t">
            <a:spAutoFit/>
          </a:bodyPr>
          <a:lstStyle/>
          <a:p>
            <a:pPr algn="l">
              <a:lnSpc>
                <a:spcPts val="3919"/>
              </a:lnSpc>
            </a:pPr>
            <a:r>
              <a:rPr lang="en-US" sz="2799" b="1">
                <a:solidFill>
                  <a:srgbClr val="804F3B"/>
                </a:solidFill>
                <a:latin typeface="Raleway Bold"/>
                <a:ea typeface="Raleway Bold"/>
                <a:cs typeface="Raleway Bold"/>
                <a:sym typeface="Raleway Bold"/>
              </a:rPr>
              <a:t>Batch No: 6</a:t>
            </a:r>
          </a:p>
        </p:txBody>
      </p:sp>
      <p:sp>
        <p:nvSpPr>
          <p:cNvPr id="10" name="TextBox 10"/>
          <p:cNvSpPr txBox="1"/>
          <p:nvPr/>
        </p:nvSpPr>
        <p:spPr>
          <a:xfrm>
            <a:off x="10269502" y="6129026"/>
            <a:ext cx="5913783" cy="557530"/>
          </a:xfrm>
          <a:prstGeom prst="rect">
            <a:avLst/>
          </a:prstGeom>
        </p:spPr>
        <p:txBody>
          <a:bodyPr lIns="0" tIns="0" rIns="0" bIns="0" rtlCol="0" anchor="t">
            <a:spAutoFit/>
          </a:bodyPr>
          <a:lstStyle/>
          <a:p>
            <a:pPr algn="l">
              <a:lnSpc>
                <a:spcPts val="3919"/>
              </a:lnSpc>
            </a:pPr>
            <a:r>
              <a:rPr lang="en-US" sz="2799" b="1">
                <a:solidFill>
                  <a:srgbClr val="804F3B"/>
                </a:solidFill>
                <a:latin typeface="Raleway Bold"/>
                <a:ea typeface="Raleway Bold"/>
                <a:cs typeface="Raleway Bold"/>
                <a:sym typeface="Raleway Bold"/>
              </a:rPr>
              <a:t>PROJECT GUIDE</a:t>
            </a:r>
          </a:p>
        </p:txBody>
      </p:sp>
      <p:sp>
        <p:nvSpPr>
          <p:cNvPr id="11" name="TextBox 11"/>
          <p:cNvSpPr txBox="1"/>
          <p:nvPr/>
        </p:nvSpPr>
        <p:spPr>
          <a:xfrm>
            <a:off x="2113008" y="631408"/>
            <a:ext cx="2178410" cy="920496"/>
          </a:xfrm>
          <a:prstGeom prst="rect">
            <a:avLst/>
          </a:prstGeom>
        </p:spPr>
        <p:txBody>
          <a:bodyPr lIns="0" tIns="0" rIns="0" bIns="0" rtlCol="0" anchor="t">
            <a:spAutoFit/>
          </a:bodyPr>
          <a:lstStyle/>
          <a:p>
            <a:pPr algn="l">
              <a:lnSpc>
                <a:spcPts val="1871"/>
              </a:lnSpc>
            </a:pPr>
            <a:r>
              <a:rPr lang="en-US" sz="1599" b="1">
                <a:solidFill>
                  <a:srgbClr val="804F3B"/>
                </a:solidFill>
                <a:latin typeface="Raleway Bold"/>
                <a:ea typeface="Raleway Bold"/>
                <a:cs typeface="Raleway Bold"/>
                <a:sym typeface="Raleway Bold"/>
              </a:rPr>
              <a:t>JNTUH UNIVERSITY COLLEGE OF ENGINEERING SULTHANPUR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grpSp>
        <p:nvGrpSpPr>
          <p:cNvPr id="5" name="Group 5"/>
          <p:cNvGrpSpPr/>
          <p:nvPr/>
        </p:nvGrpSpPr>
        <p:grpSpPr>
          <a:xfrm>
            <a:off x="925129" y="464781"/>
            <a:ext cx="1078964" cy="1127837"/>
            <a:chOff x="0" y="0"/>
            <a:chExt cx="1438619" cy="1503783"/>
          </a:xfrm>
        </p:grpSpPr>
        <p:sp>
          <p:nvSpPr>
            <p:cNvPr id="6" name="Freeform 6"/>
            <p:cNvSpPr/>
            <p:nvPr/>
          </p:nvSpPr>
          <p:spPr>
            <a:xfrm>
              <a:off x="0" y="0"/>
              <a:ext cx="1438656" cy="1503807"/>
            </a:xfrm>
            <a:custGeom>
              <a:avLst/>
              <a:gdLst/>
              <a:ahLst/>
              <a:cxnLst/>
              <a:rect l="l" t="t" r="r" b="b"/>
              <a:pathLst>
                <a:path w="1438656" h="1503807">
                  <a:moveTo>
                    <a:pt x="0" y="0"/>
                  </a:moveTo>
                  <a:lnTo>
                    <a:pt x="1438656" y="0"/>
                  </a:lnTo>
                  <a:lnTo>
                    <a:pt x="1438656" y="1503807"/>
                  </a:lnTo>
                  <a:lnTo>
                    <a:pt x="0" y="1503807"/>
                  </a:lnTo>
                  <a:lnTo>
                    <a:pt x="0" y="0"/>
                  </a:lnTo>
                  <a:close/>
                </a:path>
              </a:pathLst>
            </a:custGeom>
            <a:blipFill>
              <a:blip r:embed="rId2"/>
              <a:stretch>
                <a:fillRect l="-174" r="-171" b="1"/>
              </a:stretch>
            </a:blipFill>
          </p:spPr>
        </p:sp>
      </p:grpSp>
      <p:sp>
        <p:nvSpPr>
          <p:cNvPr id="7" name="TextBox 7"/>
          <p:cNvSpPr txBox="1"/>
          <p:nvPr/>
        </p:nvSpPr>
        <p:spPr>
          <a:xfrm>
            <a:off x="1028700" y="1479627"/>
            <a:ext cx="6848808" cy="916305"/>
          </a:xfrm>
          <a:prstGeom prst="rect">
            <a:avLst/>
          </a:prstGeom>
        </p:spPr>
        <p:txBody>
          <a:bodyPr lIns="0" tIns="0" rIns="0" bIns="0" rtlCol="0" anchor="t">
            <a:spAutoFit/>
          </a:bodyPr>
          <a:lstStyle/>
          <a:p>
            <a:pPr algn="l">
              <a:lnSpc>
                <a:spcPts val="6719"/>
              </a:lnSpc>
            </a:pPr>
            <a:r>
              <a:rPr lang="en-US" sz="4800">
                <a:solidFill>
                  <a:srgbClr val="804F3B"/>
                </a:solidFill>
                <a:latin typeface="Radley"/>
                <a:ea typeface="Radley"/>
                <a:cs typeface="Radley"/>
                <a:sym typeface="Radley"/>
              </a:rPr>
              <a:t>Table of Contents</a:t>
            </a:r>
          </a:p>
        </p:txBody>
      </p:sp>
      <p:sp>
        <p:nvSpPr>
          <p:cNvPr id="8" name="TextBox 8"/>
          <p:cNvSpPr txBox="1"/>
          <p:nvPr/>
        </p:nvSpPr>
        <p:spPr>
          <a:xfrm>
            <a:off x="2113008" y="631408"/>
            <a:ext cx="2178410" cy="920496"/>
          </a:xfrm>
          <a:prstGeom prst="rect">
            <a:avLst/>
          </a:prstGeom>
        </p:spPr>
        <p:txBody>
          <a:bodyPr lIns="0" tIns="0" rIns="0" bIns="0" rtlCol="0" anchor="t">
            <a:spAutoFit/>
          </a:bodyPr>
          <a:lstStyle/>
          <a:p>
            <a:pPr algn="l">
              <a:lnSpc>
                <a:spcPts val="1871"/>
              </a:lnSpc>
            </a:pPr>
            <a:r>
              <a:rPr lang="en-US" sz="1599" b="1">
                <a:solidFill>
                  <a:srgbClr val="804F3B"/>
                </a:solidFill>
                <a:latin typeface="Raleway Bold"/>
                <a:ea typeface="Raleway Bold"/>
                <a:cs typeface="Raleway Bold"/>
                <a:sym typeface="Raleway Bold"/>
              </a:rPr>
              <a:t>JNTUH UNIVERSITY COLLEGE OF ENGINEERING SULTHANPUR</a:t>
            </a:r>
          </a:p>
        </p:txBody>
      </p:sp>
      <p:sp>
        <p:nvSpPr>
          <p:cNvPr id="9" name="TextBox 9"/>
          <p:cNvSpPr txBox="1"/>
          <p:nvPr/>
        </p:nvSpPr>
        <p:spPr>
          <a:xfrm>
            <a:off x="2113008" y="2917267"/>
            <a:ext cx="9442033"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Abstract</a:t>
            </a:r>
          </a:p>
        </p:txBody>
      </p:sp>
      <p:sp>
        <p:nvSpPr>
          <p:cNvPr id="10" name="TextBox 10"/>
          <p:cNvSpPr txBox="1"/>
          <p:nvPr/>
        </p:nvSpPr>
        <p:spPr>
          <a:xfrm>
            <a:off x="11190060" y="2851785"/>
            <a:ext cx="2983388" cy="5575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3</a:t>
            </a:r>
          </a:p>
        </p:txBody>
      </p:sp>
      <p:sp>
        <p:nvSpPr>
          <p:cNvPr id="11" name="TextBox 11"/>
          <p:cNvSpPr txBox="1"/>
          <p:nvPr/>
        </p:nvSpPr>
        <p:spPr>
          <a:xfrm>
            <a:off x="1094877" y="2880360"/>
            <a:ext cx="653494"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I</a:t>
            </a:r>
          </a:p>
        </p:txBody>
      </p:sp>
      <p:sp>
        <p:nvSpPr>
          <p:cNvPr id="12" name="TextBox 12"/>
          <p:cNvSpPr txBox="1"/>
          <p:nvPr/>
        </p:nvSpPr>
        <p:spPr>
          <a:xfrm>
            <a:off x="1114674" y="3466465"/>
            <a:ext cx="663517" cy="564036"/>
          </a:xfrm>
          <a:prstGeom prst="rect">
            <a:avLst/>
          </a:prstGeom>
        </p:spPr>
        <p:txBody>
          <a:bodyPr lIns="0" tIns="0" rIns="0" bIns="0" rtlCol="0" anchor="t">
            <a:spAutoFit/>
          </a:bodyPr>
          <a:lstStyle/>
          <a:p>
            <a:pPr algn="l">
              <a:lnSpc>
                <a:spcPts val="3980"/>
              </a:lnSpc>
            </a:pPr>
            <a:r>
              <a:rPr lang="en-US" sz="2842">
                <a:solidFill>
                  <a:srgbClr val="2D2D2D"/>
                </a:solidFill>
                <a:latin typeface="Raleway"/>
                <a:ea typeface="Raleway"/>
                <a:cs typeface="Raleway"/>
                <a:sym typeface="Raleway"/>
              </a:rPr>
              <a:t>II</a:t>
            </a:r>
          </a:p>
        </p:txBody>
      </p:sp>
      <p:sp>
        <p:nvSpPr>
          <p:cNvPr id="13" name="TextBox 13"/>
          <p:cNvSpPr txBox="1"/>
          <p:nvPr/>
        </p:nvSpPr>
        <p:spPr>
          <a:xfrm>
            <a:off x="1124697" y="4009390"/>
            <a:ext cx="653494"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III</a:t>
            </a:r>
          </a:p>
        </p:txBody>
      </p:sp>
      <p:sp>
        <p:nvSpPr>
          <p:cNvPr id="14" name="TextBox 14"/>
          <p:cNvSpPr txBox="1"/>
          <p:nvPr/>
        </p:nvSpPr>
        <p:spPr>
          <a:xfrm>
            <a:off x="1104651" y="4547870"/>
            <a:ext cx="653494"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IV</a:t>
            </a:r>
          </a:p>
        </p:txBody>
      </p:sp>
      <p:sp>
        <p:nvSpPr>
          <p:cNvPr id="15" name="TextBox 15"/>
          <p:cNvSpPr txBox="1"/>
          <p:nvPr/>
        </p:nvSpPr>
        <p:spPr>
          <a:xfrm>
            <a:off x="1104651" y="5119433"/>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V</a:t>
            </a:r>
          </a:p>
        </p:txBody>
      </p:sp>
      <p:sp>
        <p:nvSpPr>
          <p:cNvPr id="16" name="TextBox 16"/>
          <p:cNvSpPr txBox="1"/>
          <p:nvPr/>
        </p:nvSpPr>
        <p:spPr>
          <a:xfrm>
            <a:off x="2113008" y="5103342"/>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System architecture</a:t>
            </a:r>
          </a:p>
        </p:txBody>
      </p:sp>
      <p:sp>
        <p:nvSpPr>
          <p:cNvPr id="17" name="TextBox 17"/>
          <p:cNvSpPr txBox="1"/>
          <p:nvPr/>
        </p:nvSpPr>
        <p:spPr>
          <a:xfrm>
            <a:off x="2113008" y="3466465"/>
            <a:ext cx="9442033"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Introduction</a:t>
            </a:r>
          </a:p>
        </p:txBody>
      </p:sp>
      <p:sp>
        <p:nvSpPr>
          <p:cNvPr id="18" name="TextBox 18"/>
          <p:cNvSpPr txBox="1"/>
          <p:nvPr/>
        </p:nvSpPr>
        <p:spPr>
          <a:xfrm>
            <a:off x="2113008" y="4015663"/>
            <a:ext cx="9442033"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Existing System</a:t>
            </a:r>
          </a:p>
        </p:txBody>
      </p:sp>
      <p:sp>
        <p:nvSpPr>
          <p:cNvPr id="19" name="TextBox 19"/>
          <p:cNvSpPr txBox="1"/>
          <p:nvPr/>
        </p:nvSpPr>
        <p:spPr>
          <a:xfrm>
            <a:off x="2113008" y="4564861"/>
            <a:ext cx="9442033"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Proposed System</a:t>
            </a:r>
          </a:p>
        </p:txBody>
      </p:sp>
      <p:sp>
        <p:nvSpPr>
          <p:cNvPr id="20" name="TextBox 20"/>
          <p:cNvSpPr txBox="1"/>
          <p:nvPr/>
        </p:nvSpPr>
        <p:spPr>
          <a:xfrm>
            <a:off x="11190060" y="3912081"/>
            <a:ext cx="2983388" cy="5575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5</a:t>
            </a:r>
          </a:p>
        </p:txBody>
      </p:sp>
      <p:sp>
        <p:nvSpPr>
          <p:cNvPr id="21" name="TextBox 21"/>
          <p:cNvSpPr txBox="1"/>
          <p:nvPr/>
        </p:nvSpPr>
        <p:spPr>
          <a:xfrm>
            <a:off x="11190060" y="3414674"/>
            <a:ext cx="2983388" cy="5575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4</a:t>
            </a:r>
          </a:p>
        </p:txBody>
      </p:sp>
      <p:sp>
        <p:nvSpPr>
          <p:cNvPr id="22" name="TextBox 22"/>
          <p:cNvSpPr txBox="1"/>
          <p:nvPr/>
        </p:nvSpPr>
        <p:spPr>
          <a:xfrm>
            <a:off x="11342460" y="4516043"/>
            <a:ext cx="2830988" cy="5575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5</a:t>
            </a:r>
          </a:p>
        </p:txBody>
      </p:sp>
      <p:sp>
        <p:nvSpPr>
          <p:cNvPr id="23" name="TextBox 23"/>
          <p:cNvSpPr txBox="1"/>
          <p:nvPr/>
        </p:nvSpPr>
        <p:spPr>
          <a:xfrm>
            <a:off x="11342460" y="5138483"/>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7</a:t>
            </a:r>
          </a:p>
        </p:txBody>
      </p:sp>
      <p:sp>
        <p:nvSpPr>
          <p:cNvPr id="24" name="TextBox 24"/>
          <p:cNvSpPr txBox="1"/>
          <p:nvPr/>
        </p:nvSpPr>
        <p:spPr>
          <a:xfrm>
            <a:off x="2113008" y="5651347"/>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Explanation</a:t>
            </a:r>
          </a:p>
        </p:txBody>
      </p:sp>
      <p:sp>
        <p:nvSpPr>
          <p:cNvPr id="25" name="TextBox 25"/>
          <p:cNvSpPr txBox="1"/>
          <p:nvPr/>
        </p:nvSpPr>
        <p:spPr>
          <a:xfrm>
            <a:off x="2113008" y="6199352"/>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Requirements</a:t>
            </a:r>
          </a:p>
        </p:txBody>
      </p:sp>
      <p:sp>
        <p:nvSpPr>
          <p:cNvPr id="26" name="TextBox 26"/>
          <p:cNvSpPr txBox="1"/>
          <p:nvPr/>
        </p:nvSpPr>
        <p:spPr>
          <a:xfrm>
            <a:off x="2113008" y="6747357"/>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Design</a:t>
            </a:r>
          </a:p>
        </p:txBody>
      </p:sp>
      <p:sp>
        <p:nvSpPr>
          <p:cNvPr id="27" name="TextBox 27"/>
          <p:cNvSpPr txBox="1"/>
          <p:nvPr/>
        </p:nvSpPr>
        <p:spPr>
          <a:xfrm>
            <a:off x="2113008" y="7295362"/>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Implementation</a:t>
            </a:r>
          </a:p>
        </p:txBody>
      </p:sp>
      <p:sp>
        <p:nvSpPr>
          <p:cNvPr id="28" name="TextBox 28"/>
          <p:cNvSpPr txBox="1"/>
          <p:nvPr/>
        </p:nvSpPr>
        <p:spPr>
          <a:xfrm>
            <a:off x="2113008" y="7843367"/>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Results</a:t>
            </a:r>
          </a:p>
        </p:txBody>
      </p:sp>
      <p:sp>
        <p:nvSpPr>
          <p:cNvPr id="29" name="TextBox 29"/>
          <p:cNvSpPr txBox="1"/>
          <p:nvPr/>
        </p:nvSpPr>
        <p:spPr>
          <a:xfrm>
            <a:off x="2113008" y="8391372"/>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Conclusion</a:t>
            </a:r>
          </a:p>
        </p:txBody>
      </p:sp>
      <p:sp>
        <p:nvSpPr>
          <p:cNvPr id="30" name="TextBox 30"/>
          <p:cNvSpPr txBox="1"/>
          <p:nvPr/>
        </p:nvSpPr>
        <p:spPr>
          <a:xfrm>
            <a:off x="2113008" y="8939377"/>
            <a:ext cx="6864847" cy="557530"/>
          </a:xfrm>
          <a:prstGeom prst="rect">
            <a:avLst/>
          </a:prstGeom>
        </p:spPr>
        <p:txBody>
          <a:bodyPr lIns="0" tIns="0" rIns="0" bIns="0" rtlCol="0" anchor="t">
            <a:spAutoFit/>
          </a:bodyPr>
          <a:lstStyle/>
          <a:p>
            <a:pPr algn="l">
              <a:lnSpc>
                <a:spcPts val="3919"/>
              </a:lnSpc>
            </a:pPr>
            <a:r>
              <a:rPr lang="en-US" sz="2799">
                <a:solidFill>
                  <a:srgbClr val="2D2D2D"/>
                </a:solidFill>
                <a:latin typeface="Raleway"/>
                <a:ea typeface="Raleway"/>
                <a:cs typeface="Raleway"/>
                <a:sym typeface="Raleway"/>
              </a:rPr>
              <a:t>References</a:t>
            </a:r>
          </a:p>
        </p:txBody>
      </p:sp>
      <p:sp>
        <p:nvSpPr>
          <p:cNvPr id="31" name="TextBox 31"/>
          <p:cNvSpPr txBox="1"/>
          <p:nvPr/>
        </p:nvSpPr>
        <p:spPr>
          <a:xfrm>
            <a:off x="1094877" y="5572125"/>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VI</a:t>
            </a:r>
          </a:p>
        </p:txBody>
      </p:sp>
      <p:sp>
        <p:nvSpPr>
          <p:cNvPr id="32" name="TextBox 32"/>
          <p:cNvSpPr txBox="1"/>
          <p:nvPr/>
        </p:nvSpPr>
        <p:spPr>
          <a:xfrm>
            <a:off x="1038225" y="6230437"/>
            <a:ext cx="729943" cy="607153"/>
          </a:xfrm>
          <a:prstGeom prst="rect">
            <a:avLst/>
          </a:prstGeom>
        </p:spPr>
        <p:txBody>
          <a:bodyPr lIns="0" tIns="0" rIns="0" bIns="0" rtlCol="0" anchor="t">
            <a:spAutoFit/>
          </a:bodyPr>
          <a:lstStyle/>
          <a:p>
            <a:pPr algn="l">
              <a:lnSpc>
                <a:spcPts val="4377"/>
              </a:lnSpc>
            </a:pPr>
            <a:r>
              <a:rPr lang="en-US" sz="3126">
                <a:solidFill>
                  <a:srgbClr val="2D2D2D"/>
                </a:solidFill>
                <a:latin typeface="Raleway"/>
                <a:ea typeface="Raleway"/>
                <a:cs typeface="Raleway"/>
                <a:sym typeface="Raleway"/>
              </a:rPr>
              <a:t>VII</a:t>
            </a:r>
          </a:p>
        </p:txBody>
      </p:sp>
      <p:sp>
        <p:nvSpPr>
          <p:cNvPr id="33" name="TextBox 33"/>
          <p:cNvSpPr txBox="1"/>
          <p:nvPr/>
        </p:nvSpPr>
        <p:spPr>
          <a:xfrm>
            <a:off x="1011393" y="6761390"/>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VIII</a:t>
            </a:r>
          </a:p>
        </p:txBody>
      </p:sp>
      <p:sp>
        <p:nvSpPr>
          <p:cNvPr id="34" name="TextBox 34"/>
          <p:cNvSpPr txBox="1"/>
          <p:nvPr/>
        </p:nvSpPr>
        <p:spPr>
          <a:xfrm>
            <a:off x="1011393" y="7304887"/>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IX</a:t>
            </a:r>
          </a:p>
        </p:txBody>
      </p:sp>
      <p:sp>
        <p:nvSpPr>
          <p:cNvPr id="35" name="TextBox 35"/>
          <p:cNvSpPr txBox="1"/>
          <p:nvPr/>
        </p:nvSpPr>
        <p:spPr>
          <a:xfrm>
            <a:off x="1011393" y="7848384"/>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X</a:t>
            </a:r>
          </a:p>
        </p:txBody>
      </p:sp>
      <p:sp>
        <p:nvSpPr>
          <p:cNvPr id="36" name="TextBox 36"/>
          <p:cNvSpPr txBox="1"/>
          <p:nvPr/>
        </p:nvSpPr>
        <p:spPr>
          <a:xfrm>
            <a:off x="1038225" y="8329205"/>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XI</a:t>
            </a:r>
          </a:p>
        </p:txBody>
      </p:sp>
      <p:sp>
        <p:nvSpPr>
          <p:cNvPr id="37" name="TextBox 37"/>
          <p:cNvSpPr txBox="1"/>
          <p:nvPr/>
        </p:nvSpPr>
        <p:spPr>
          <a:xfrm>
            <a:off x="1011393" y="8796502"/>
            <a:ext cx="719920" cy="619697"/>
          </a:xfrm>
          <a:prstGeom prst="rect">
            <a:avLst/>
          </a:prstGeom>
        </p:spPr>
        <p:txBody>
          <a:bodyPr lIns="0" tIns="0" rIns="0" bIns="0" rtlCol="0" anchor="t">
            <a:spAutoFit/>
          </a:bodyPr>
          <a:lstStyle/>
          <a:p>
            <a:pPr algn="l">
              <a:lnSpc>
                <a:spcPts val="4318"/>
              </a:lnSpc>
            </a:pPr>
            <a:r>
              <a:rPr lang="en-US" sz="3083">
                <a:solidFill>
                  <a:srgbClr val="2D2D2D"/>
                </a:solidFill>
                <a:latin typeface="Raleway"/>
                <a:ea typeface="Raleway"/>
                <a:cs typeface="Raleway"/>
                <a:sym typeface="Raleway"/>
              </a:rPr>
              <a:t>XII</a:t>
            </a:r>
          </a:p>
        </p:txBody>
      </p:sp>
      <p:sp>
        <p:nvSpPr>
          <p:cNvPr id="38" name="TextBox 38"/>
          <p:cNvSpPr txBox="1"/>
          <p:nvPr/>
        </p:nvSpPr>
        <p:spPr>
          <a:xfrm>
            <a:off x="11332935" y="6288599"/>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9</a:t>
            </a:r>
          </a:p>
        </p:txBody>
      </p:sp>
      <p:sp>
        <p:nvSpPr>
          <p:cNvPr id="39" name="TextBox 39"/>
          <p:cNvSpPr txBox="1"/>
          <p:nvPr/>
        </p:nvSpPr>
        <p:spPr>
          <a:xfrm>
            <a:off x="11443826" y="6827053"/>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10</a:t>
            </a:r>
          </a:p>
        </p:txBody>
      </p:sp>
      <p:sp>
        <p:nvSpPr>
          <p:cNvPr id="40" name="TextBox 40"/>
          <p:cNvSpPr txBox="1"/>
          <p:nvPr/>
        </p:nvSpPr>
        <p:spPr>
          <a:xfrm>
            <a:off x="11443826" y="7314412"/>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14</a:t>
            </a:r>
          </a:p>
        </p:txBody>
      </p:sp>
      <p:sp>
        <p:nvSpPr>
          <p:cNvPr id="41" name="TextBox 41"/>
          <p:cNvSpPr txBox="1"/>
          <p:nvPr/>
        </p:nvSpPr>
        <p:spPr>
          <a:xfrm>
            <a:off x="11443826" y="7786217"/>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15</a:t>
            </a:r>
          </a:p>
        </p:txBody>
      </p:sp>
      <p:sp>
        <p:nvSpPr>
          <p:cNvPr id="42" name="TextBox 42"/>
          <p:cNvSpPr txBox="1"/>
          <p:nvPr/>
        </p:nvSpPr>
        <p:spPr>
          <a:xfrm>
            <a:off x="11342460" y="5672455"/>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8</a:t>
            </a:r>
          </a:p>
        </p:txBody>
      </p:sp>
      <p:sp>
        <p:nvSpPr>
          <p:cNvPr id="43" name="TextBox 43"/>
          <p:cNvSpPr txBox="1"/>
          <p:nvPr/>
        </p:nvSpPr>
        <p:spPr>
          <a:xfrm>
            <a:off x="11443826" y="8853601"/>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18</a:t>
            </a:r>
          </a:p>
        </p:txBody>
      </p:sp>
      <p:sp>
        <p:nvSpPr>
          <p:cNvPr id="44" name="TextBox 44"/>
          <p:cNvSpPr txBox="1"/>
          <p:nvPr/>
        </p:nvSpPr>
        <p:spPr>
          <a:xfrm>
            <a:off x="11443826" y="8372297"/>
            <a:ext cx="2830988" cy="490830"/>
          </a:xfrm>
          <a:prstGeom prst="rect">
            <a:avLst/>
          </a:prstGeom>
        </p:spPr>
        <p:txBody>
          <a:bodyPr lIns="0" tIns="0" rIns="0" bIns="0" rtlCol="0" anchor="t">
            <a:spAutoFit/>
          </a:bodyPr>
          <a:lstStyle/>
          <a:p>
            <a:pPr algn="r">
              <a:lnSpc>
                <a:spcPts val="3919"/>
              </a:lnSpc>
            </a:pPr>
            <a:r>
              <a:rPr lang="en-US" sz="2799">
                <a:solidFill>
                  <a:srgbClr val="2D2D2D"/>
                </a:solidFill>
                <a:latin typeface="Raleway"/>
                <a:ea typeface="Raleway"/>
                <a:cs typeface="Raleway"/>
                <a:sym typeface="Raleway"/>
              </a:rPr>
              <a:t>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0" y="5248164"/>
            <a:ext cx="5598707" cy="5038836"/>
          </a:xfrm>
          <a:custGeom>
            <a:avLst/>
            <a:gdLst/>
            <a:ahLst/>
            <a:cxnLst/>
            <a:rect l="l" t="t" r="r" b="b"/>
            <a:pathLst>
              <a:path w="5598707" h="5038836">
                <a:moveTo>
                  <a:pt x="0" y="0"/>
                </a:moveTo>
                <a:lnTo>
                  <a:pt x="5598707" y="0"/>
                </a:lnTo>
                <a:lnTo>
                  <a:pt x="5598707" y="5038836"/>
                </a:lnTo>
                <a:lnTo>
                  <a:pt x="0" y="5038836"/>
                </a:lnTo>
                <a:lnTo>
                  <a:pt x="0" y="0"/>
                </a:lnTo>
                <a:close/>
              </a:path>
            </a:pathLst>
          </a:custGeom>
          <a:blipFill>
            <a:blip r:embed="rId2">
              <a:extLst>
                <a:ext uri="{96DAC541-7B7A-43D3-8B79-37D633B846F1}">
                  <asvg:svgBlip xmlns:asvg="http://schemas.microsoft.com/office/drawing/2016/SVG/main" r:embed="rId3"/>
                </a:ext>
              </a:extLst>
            </a:blip>
            <a:stretch>
              <a:fillRect t="-206" b="-206"/>
            </a:stretch>
          </a:blipFill>
        </p:spPr>
      </p:sp>
      <p:sp>
        <p:nvSpPr>
          <p:cNvPr id="6" name="TextBox 6"/>
          <p:cNvSpPr txBox="1"/>
          <p:nvPr/>
        </p:nvSpPr>
        <p:spPr>
          <a:xfrm>
            <a:off x="5598707" y="2554578"/>
            <a:ext cx="10750159" cy="5318037"/>
          </a:xfrm>
          <a:prstGeom prst="rect">
            <a:avLst/>
          </a:prstGeom>
        </p:spPr>
        <p:txBody>
          <a:bodyPr lIns="0" tIns="0" rIns="0" bIns="0" rtlCol="0" anchor="t">
            <a:spAutoFit/>
          </a:bodyPr>
          <a:lstStyle/>
          <a:p>
            <a:pPr algn="l">
              <a:lnSpc>
                <a:spcPts val="5320"/>
              </a:lnSpc>
            </a:pPr>
            <a:r>
              <a:rPr lang="en-US" sz="2955">
                <a:solidFill>
                  <a:srgbClr val="804F3B"/>
                </a:solidFill>
                <a:latin typeface="Raleway"/>
                <a:ea typeface="Raleway"/>
                <a:cs typeface="Raleway"/>
                <a:sym typeface="Raleway"/>
              </a:rPr>
              <a:t>This Android-based Video Summarization Application  that leverages  Natural Language Processing (NLP) and Machine Learning (ML)  to generate structured summaries from video content. The application accepts a  video file or YouTube link  as input, extracts audio using  Automatic Speech Recognition (ASR) , and applies  advanced NLP techniques  to produce outputs such as a  detailed description and a concise summary .</a:t>
            </a:r>
          </a:p>
        </p:txBody>
      </p:sp>
      <p:sp>
        <p:nvSpPr>
          <p:cNvPr id="7" name="TextBox 7"/>
          <p:cNvSpPr txBox="1"/>
          <p:nvPr/>
        </p:nvSpPr>
        <p:spPr>
          <a:xfrm>
            <a:off x="1028700" y="703961"/>
            <a:ext cx="23745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I</a:t>
            </a:r>
          </a:p>
        </p:txBody>
      </p:sp>
      <p:sp>
        <p:nvSpPr>
          <p:cNvPr id="8" name="TextBox 8"/>
          <p:cNvSpPr txBox="1"/>
          <p:nvPr/>
        </p:nvSpPr>
        <p:spPr>
          <a:xfrm>
            <a:off x="1355447" y="703961"/>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ABSTRACT</a:t>
            </a:r>
          </a:p>
        </p:txBody>
      </p:sp>
      <p:sp>
        <p:nvSpPr>
          <p:cNvPr id="9" name="TextBox 9"/>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flipH="1">
            <a:off x="13162114" y="1701411"/>
            <a:ext cx="3425690" cy="7476705"/>
          </a:xfrm>
          <a:custGeom>
            <a:avLst/>
            <a:gdLst/>
            <a:ahLst/>
            <a:cxnLst/>
            <a:rect l="l" t="t" r="r" b="b"/>
            <a:pathLst>
              <a:path w="3425690" h="7476705">
                <a:moveTo>
                  <a:pt x="3425690" y="0"/>
                </a:moveTo>
                <a:lnTo>
                  <a:pt x="0" y="0"/>
                </a:lnTo>
                <a:lnTo>
                  <a:pt x="0" y="7476705"/>
                </a:lnTo>
                <a:lnTo>
                  <a:pt x="3425690" y="7476705"/>
                </a:lnTo>
                <a:lnTo>
                  <a:pt x="3425690" y="0"/>
                </a:lnTo>
                <a:close/>
              </a:path>
            </a:pathLst>
          </a:custGeom>
          <a:blipFill>
            <a:blip r:embed="rId2">
              <a:extLst>
                <a:ext uri="{96DAC541-7B7A-43D3-8B79-37D633B846F1}">
                  <asvg:svgBlip xmlns:asvg="http://schemas.microsoft.com/office/drawing/2016/SVG/main" r:embed="rId3"/>
                </a:ext>
              </a:extLst>
            </a:blip>
            <a:stretch>
              <a:fillRect l="-184" r="-184"/>
            </a:stretch>
          </a:blipFill>
        </p:spPr>
      </p:sp>
      <p:sp>
        <p:nvSpPr>
          <p:cNvPr id="6" name="TextBox 6"/>
          <p:cNvSpPr txBox="1"/>
          <p:nvPr/>
        </p:nvSpPr>
        <p:spPr>
          <a:xfrm>
            <a:off x="1028700" y="703961"/>
            <a:ext cx="23745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II</a:t>
            </a:r>
          </a:p>
        </p:txBody>
      </p:sp>
      <p:sp>
        <p:nvSpPr>
          <p:cNvPr id="7" name="TextBox 7"/>
          <p:cNvSpPr txBox="1"/>
          <p:nvPr/>
        </p:nvSpPr>
        <p:spPr>
          <a:xfrm>
            <a:off x="1591069" y="703961"/>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INTRODUCTION</a:t>
            </a:r>
          </a:p>
        </p:txBody>
      </p:sp>
      <p:sp>
        <p:nvSpPr>
          <p:cNvPr id="8" name="TextBox 8"/>
          <p:cNvSpPr txBox="1"/>
          <p:nvPr/>
        </p:nvSpPr>
        <p:spPr>
          <a:xfrm>
            <a:off x="1266150" y="1695602"/>
            <a:ext cx="11981014" cy="5443042"/>
          </a:xfrm>
          <a:prstGeom prst="rect">
            <a:avLst/>
          </a:prstGeom>
        </p:spPr>
        <p:txBody>
          <a:bodyPr lIns="0" tIns="0" rIns="0" bIns="0" rtlCol="0" anchor="t">
            <a:spAutoFit/>
          </a:bodyPr>
          <a:lstStyle/>
          <a:p>
            <a:pPr algn="l">
              <a:lnSpc>
                <a:spcPts val="4848"/>
              </a:lnSpc>
            </a:pPr>
            <a:r>
              <a:rPr lang="en-US" sz="2693">
                <a:solidFill>
                  <a:srgbClr val="804F3B"/>
                </a:solidFill>
                <a:latin typeface="Raleway"/>
                <a:ea typeface="Raleway"/>
                <a:cs typeface="Raleway"/>
                <a:sym typeface="Raleway"/>
              </a:rPr>
              <a:t>Traditional systems require users to manually watch and interpret lengthy videos, making content consumption time-consuming and inefficient. Existing tools may offer basic transcription or keyword extraction but lack structured summarization and real-time processing capabilities.</a:t>
            </a:r>
          </a:p>
          <a:p>
            <a:pPr algn="l">
              <a:lnSpc>
                <a:spcPts val="4848"/>
              </a:lnSpc>
            </a:pPr>
            <a:r>
              <a:rPr lang="en-US" sz="2693">
                <a:solidFill>
                  <a:srgbClr val="804F3B"/>
                </a:solidFill>
                <a:latin typeface="Raleway"/>
                <a:ea typeface="Raleway"/>
                <a:cs typeface="Raleway"/>
                <a:sym typeface="Raleway"/>
              </a:rPr>
              <a:t>This project introduces an Android-based Video Summarization Application that overcomes these limitations by leveraging NLP, ML, and ASR. It accepts a video file or YouTube link, transcribes the audio using deep learning models, and generates a detailed description and a concise summary .</a:t>
            </a:r>
          </a:p>
        </p:txBody>
      </p:sp>
      <p:sp>
        <p:nvSpPr>
          <p:cNvPr id="9" name="TextBox 9"/>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TextBox 5"/>
          <p:cNvSpPr txBox="1"/>
          <p:nvPr/>
        </p:nvSpPr>
        <p:spPr>
          <a:xfrm>
            <a:off x="717182" y="608310"/>
            <a:ext cx="503044" cy="459321"/>
          </a:xfrm>
          <a:prstGeom prst="rect">
            <a:avLst/>
          </a:prstGeom>
        </p:spPr>
        <p:txBody>
          <a:bodyPr lIns="0" tIns="0" rIns="0" bIns="0" rtlCol="0" anchor="t">
            <a:spAutoFit/>
          </a:bodyPr>
          <a:lstStyle/>
          <a:p>
            <a:pPr algn="just">
              <a:lnSpc>
                <a:spcPts val="3581"/>
              </a:lnSpc>
            </a:pPr>
            <a:r>
              <a:rPr lang="en-US" sz="3061" b="1">
                <a:solidFill>
                  <a:srgbClr val="804F3B"/>
                </a:solidFill>
                <a:latin typeface="Raleway Bold"/>
                <a:ea typeface="Raleway Bold"/>
                <a:cs typeface="Raleway Bold"/>
                <a:sym typeface="Raleway Bold"/>
              </a:rPr>
              <a:t>III</a:t>
            </a:r>
          </a:p>
        </p:txBody>
      </p:sp>
      <p:sp>
        <p:nvSpPr>
          <p:cNvPr id="6" name="TextBox 6"/>
          <p:cNvSpPr txBox="1"/>
          <p:nvPr/>
        </p:nvSpPr>
        <p:spPr>
          <a:xfrm>
            <a:off x="1355447" y="618081"/>
            <a:ext cx="3464511"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EXISTING SYSTEM</a:t>
            </a:r>
          </a:p>
        </p:txBody>
      </p:sp>
      <p:sp>
        <p:nvSpPr>
          <p:cNvPr id="7" name="TextBox 7"/>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5</a:t>
            </a:r>
          </a:p>
        </p:txBody>
      </p:sp>
      <p:sp>
        <p:nvSpPr>
          <p:cNvPr id="8" name="TextBox 8"/>
          <p:cNvSpPr txBox="1"/>
          <p:nvPr/>
        </p:nvSpPr>
        <p:spPr>
          <a:xfrm>
            <a:off x="4819958" y="1531237"/>
            <a:ext cx="11496614" cy="6904076"/>
          </a:xfrm>
          <a:prstGeom prst="rect">
            <a:avLst/>
          </a:prstGeom>
        </p:spPr>
        <p:txBody>
          <a:bodyPr lIns="0" tIns="0" rIns="0" bIns="0" rtlCol="0" anchor="t">
            <a:spAutoFit/>
          </a:bodyPr>
          <a:lstStyle/>
          <a:p>
            <a:pPr algn="l">
              <a:lnSpc>
                <a:spcPts val="4247"/>
              </a:lnSpc>
            </a:pPr>
            <a:r>
              <a:rPr lang="en-US" sz="2654">
                <a:solidFill>
                  <a:srgbClr val="804F3B"/>
                </a:solidFill>
                <a:latin typeface="Radley"/>
                <a:ea typeface="Radley"/>
                <a:cs typeface="Radley"/>
                <a:sym typeface="Radley"/>
              </a:rPr>
              <a:t>Software tools and platforms already exist for video transcription and summarization, such as YouTube auto-captions, Otter.ai, and basic online summarizers. However, these tools often have limitations:</a:t>
            </a:r>
          </a:p>
          <a:p>
            <a:pPr algn="l">
              <a:lnSpc>
                <a:spcPts val="4247"/>
              </a:lnSpc>
            </a:pPr>
            <a:r>
              <a:rPr lang="en-US" sz="2654">
                <a:solidFill>
                  <a:srgbClr val="804F3B"/>
                </a:solidFill>
                <a:latin typeface="Radley"/>
                <a:ea typeface="Radley"/>
                <a:cs typeface="Radley"/>
                <a:sym typeface="Radley"/>
              </a:rPr>
              <a:t>They mainly provide raw transcripts without generating structured summaries.</a:t>
            </a:r>
          </a:p>
          <a:p>
            <a:pPr marL="606798" lvl="2" indent="-202266" algn="l">
              <a:lnSpc>
                <a:spcPts val="4247"/>
              </a:lnSpc>
              <a:buFont typeface="Arial"/>
              <a:buChar char="⚬"/>
            </a:pPr>
            <a:r>
              <a:rPr lang="en-US" sz="2654">
                <a:solidFill>
                  <a:srgbClr val="804F3B"/>
                </a:solidFill>
                <a:latin typeface="Radley"/>
                <a:ea typeface="Radley"/>
                <a:cs typeface="Radley"/>
                <a:sym typeface="Radley"/>
              </a:rPr>
              <a:t>Summarization accuracy is low, especially for complex or lengthy videos.</a:t>
            </a:r>
          </a:p>
          <a:p>
            <a:pPr marL="606798" lvl="2" indent="-202266" algn="l">
              <a:lnSpc>
                <a:spcPts val="4247"/>
              </a:lnSpc>
              <a:buFont typeface="Arial"/>
              <a:buChar char="⚬"/>
            </a:pPr>
            <a:r>
              <a:rPr lang="en-US" sz="2654">
                <a:solidFill>
                  <a:srgbClr val="804F3B"/>
                </a:solidFill>
                <a:latin typeface="Radley"/>
                <a:ea typeface="Radley"/>
                <a:cs typeface="Radley"/>
                <a:sym typeface="Radley"/>
              </a:rPr>
              <a:t>Most do not support both extractive and abstractive summarization methods.</a:t>
            </a:r>
          </a:p>
          <a:p>
            <a:pPr marL="606798" lvl="2" indent="-202266" algn="l">
              <a:lnSpc>
                <a:spcPts val="4247"/>
              </a:lnSpc>
              <a:buFont typeface="Arial"/>
              <a:buChar char="⚬"/>
            </a:pPr>
            <a:r>
              <a:rPr lang="en-US" sz="2654">
                <a:solidFill>
                  <a:srgbClr val="804F3B"/>
                </a:solidFill>
                <a:latin typeface="Radley"/>
                <a:ea typeface="Radley"/>
                <a:cs typeface="Radley"/>
                <a:sym typeface="Radley"/>
              </a:rPr>
              <a:t>They lack real-time or mobile-based processing, reducing accessibility and convenience.</a:t>
            </a:r>
          </a:p>
          <a:p>
            <a:pPr marL="606704" lvl="2" indent="-202235" algn="l">
              <a:lnSpc>
                <a:spcPts val="4247"/>
              </a:lnSpc>
              <a:buFont typeface="Arial"/>
              <a:buChar char="⚬"/>
            </a:pPr>
            <a:r>
              <a:rPr lang="en-US" sz="2654">
                <a:solidFill>
                  <a:srgbClr val="804F3B"/>
                </a:solidFill>
                <a:latin typeface="Radley"/>
                <a:ea typeface="Radley"/>
                <a:cs typeface="Radley"/>
                <a:sym typeface="Radley"/>
              </a:rPr>
              <a:t>Users often need to use multiple separate tools for transcription and summarization.</a:t>
            </a:r>
          </a:p>
          <a:p>
            <a:pPr marL="606798" lvl="2" indent="-202266" algn="l">
              <a:lnSpc>
                <a:spcPts val="4247"/>
              </a:lnSpc>
            </a:pPr>
            <a:endParaRPr lang="en-US" sz="2654">
              <a:solidFill>
                <a:srgbClr val="804F3B"/>
              </a:solidFill>
              <a:latin typeface="Radley"/>
              <a:ea typeface="Radley"/>
              <a:cs typeface="Radley"/>
              <a:sym typeface="Radley"/>
            </a:endParaRPr>
          </a:p>
        </p:txBody>
      </p:sp>
      <p:sp>
        <p:nvSpPr>
          <p:cNvPr id="9" name="Freeform 9"/>
          <p:cNvSpPr/>
          <p:nvPr/>
        </p:nvSpPr>
        <p:spPr>
          <a:xfrm>
            <a:off x="0" y="5456089"/>
            <a:ext cx="4966357" cy="4830911"/>
          </a:xfrm>
          <a:custGeom>
            <a:avLst/>
            <a:gdLst/>
            <a:ahLst/>
            <a:cxnLst/>
            <a:rect l="l" t="t" r="r" b="b"/>
            <a:pathLst>
              <a:path w="4966357" h="4830911">
                <a:moveTo>
                  <a:pt x="0" y="0"/>
                </a:moveTo>
                <a:lnTo>
                  <a:pt x="4966357" y="0"/>
                </a:lnTo>
                <a:lnTo>
                  <a:pt x="4966357" y="4830911"/>
                </a:lnTo>
                <a:lnTo>
                  <a:pt x="0" y="4830911"/>
                </a:lnTo>
                <a:lnTo>
                  <a:pt x="0" y="0"/>
                </a:lnTo>
                <a:close/>
              </a:path>
            </a:pathLst>
          </a:custGeom>
          <a:blipFill>
            <a:blip r:embed="rId2">
              <a:extLst>
                <a:ext uri="{96DAC541-7B7A-43D3-8B79-37D633B846F1}">
                  <asvg:svgBlip xmlns:asvg="http://schemas.microsoft.com/office/drawing/2016/SVG/main" r:embed="rId3"/>
                </a:ext>
              </a:extLst>
            </a:blip>
            <a:stretch>
              <a:fillRect l="-74" r="-74"/>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10860997" y="3220067"/>
            <a:ext cx="5879787" cy="6895273"/>
          </a:xfrm>
          <a:custGeom>
            <a:avLst/>
            <a:gdLst/>
            <a:ahLst/>
            <a:cxnLst/>
            <a:rect l="l" t="t" r="r" b="b"/>
            <a:pathLst>
              <a:path w="5879787" h="6895273">
                <a:moveTo>
                  <a:pt x="0" y="0"/>
                </a:moveTo>
                <a:lnTo>
                  <a:pt x="5879787" y="0"/>
                </a:lnTo>
                <a:lnTo>
                  <a:pt x="5879787" y="6895273"/>
                </a:lnTo>
                <a:lnTo>
                  <a:pt x="0" y="6895273"/>
                </a:lnTo>
                <a:lnTo>
                  <a:pt x="0" y="0"/>
                </a:lnTo>
                <a:close/>
              </a:path>
            </a:pathLst>
          </a:custGeom>
          <a:blipFill>
            <a:blip r:embed="rId2">
              <a:extLst>
                <a:ext uri="{96DAC541-7B7A-43D3-8B79-37D633B846F1}">
                  <asvg:svgBlip xmlns:asvg="http://schemas.microsoft.com/office/drawing/2016/SVG/main" r:embed="rId3"/>
                </a:ext>
              </a:extLst>
            </a:blip>
            <a:stretch>
              <a:fillRect t="-156" b="-156"/>
            </a:stretch>
          </a:blipFill>
        </p:spPr>
      </p:sp>
      <p:sp>
        <p:nvSpPr>
          <p:cNvPr id="6" name="TextBox 6"/>
          <p:cNvSpPr txBox="1"/>
          <p:nvPr/>
        </p:nvSpPr>
        <p:spPr>
          <a:xfrm>
            <a:off x="705782" y="644948"/>
            <a:ext cx="560368" cy="479559"/>
          </a:xfrm>
          <a:prstGeom prst="rect">
            <a:avLst/>
          </a:prstGeom>
        </p:spPr>
        <p:txBody>
          <a:bodyPr lIns="0" tIns="0" rIns="0" bIns="0" rtlCol="0" anchor="t">
            <a:spAutoFit/>
          </a:bodyPr>
          <a:lstStyle/>
          <a:p>
            <a:pPr algn="just">
              <a:lnSpc>
                <a:spcPts val="3746"/>
              </a:lnSpc>
            </a:pPr>
            <a:r>
              <a:rPr lang="en-US" sz="3202" b="1">
                <a:solidFill>
                  <a:srgbClr val="804F3B"/>
                </a:solidFill>
                <a:latin typeface="Raleway Bold"/>
                <a:ea typeface="Raleway Bold"/>
                <a:cs typeface="Raleway Bold"/>
                <a:sym typeface="Raleway Bold"/>
              </a:rPr>
              <a:t>IV</a:t>
            </a:r>
          </a:p>
        </p:txBody>
      </p:sp>
      <p:sp>
        <p:nvSpPr>
          <p:cNvPr id="7" name="TextBox 7"/>
          <p:cNvSpPr txBox="1"/>
          <p:nvPr/>
        </p:nvSpPr>
        <p:spPr>
          <a:xfrm>
            <a:off x="1483968" y="644948"/>
            <a:ext cx="376438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PROPOSED SYSTEM</a:t>
            </a:r>
          </a:p>
        </p:txBody>
      </p:sp>
      <p:sp>
        <p:nvSpPr>
          <p:cNvPr id="8" name="TextBox 8"/>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6</a:t>
            </a:r>
          </a:p>
        </p:txBody>
      </p:sp>
      <p:sp>
        <p:nvSpPr>
          <p:cNvPr id="9" name="TextBox 9"/>
          <p:cNvSpPr txBox="1"/>
          <p:nvPr/>
        </p:nvSpPr>
        <p:spPr>
          <a:xfrm>
            <a:off x="921474" y="2536012"/>
            <a:ext cx="9548998" cy="5676160"/>
          </a:xfrm>
          <a:prstGeom prst="rect">
            <a:avLst/>
          </a:prstGeom>
        </p:spPr>
        <p:txBody>
          <a:bodyPr lIns="0" tIns="0" rIns="0" bIns="0" rtlCol="0" anchor="t">
            <a:spAutoFit/>
          </a:bodyPr>
          <a:lstStyle/>
          <a:p>
            <a:pPr algn="l">
              <a:lnSpc>
                <a:spcPts val="4520"/>
              </a:lnSpc>
            </a:pPr>
            <a:r>
              <a:rPr lang="en-US" sz="2825">
                <a:solidFill>
                  <a:srgbClr val="804F3B"/>
                </a:solidFill>
                <a:latin typeface="Radley"/>
                <a:ea typeface="Radley"/>
                <a:cs typeface="Radley"/>
                <a:sym typeface="Radley"/>
              </a:rPr>
              <a:t>The proposed system is an Android-based Video Summarization Application that overcomes the limitations of existing tools by integrating Advanced NLP and Machine Learning techniques. It allows users to upload a video file or YouTube link, extracts audio using Automatic Speech Recognition (ASR), and generates:</a:t>
            </a:r>
          </a:p>
          <a:p>
            <a:pPr marL="645872" lvl="2" indent="-215291" algn="l">
              <a:lnSpc>
                <a:spcPts val="4520"/>
              </a:lnSpc>
              <a:buFont typeface="Arial"/>
              <a:buChar char="⚬"/>
            </a:pPr>
            <a:r>
              <a:rPr lang="en-US" sz="2825">
                <a:solidFill>
                  <a:srgbClr val="804F3B"/>
                </a:solidFill>
                <a:latin typeface="Radley"/>
                <a:ea typeface="Radley"/>
                <a:cs typeface="Radley"/>
                <a:sym typeface="Radley"/>
              </a:rPr>
              <a:t>A detailed description of the video content</a:t>
            </a:r>
          </a:p>
          <a:p>
            <a:pPr marL="645872" lvl="2" indent="-215291" algn="l">
              <a:lnSpc>
                <a:spcPts val="4520"/>
              </a:lnSpc>
              <a:buFont typeface="Arial"/>
              <a:buChar char="⚬"/>
            </a:pPr>
            <a:r>
              <a:rPr lang="en-US" sz="2825">
                <a:solidFill>
                  <a:srgbClr val="804F3B"/>
                </a:solidFill>
                <a:latin typeface="Radley"/>
                <a:ea typeface="Radley"/>
                <a:cs typeface="Radley"/>
                <a:sym typeface="Radley"/>
              </a:rPr>
              <a:t>A concise summary using both extractive and abstractive summarization</a:t>
            </a:r>
          </a:p>
          <a:p>
            <a:pPr marL="645872" lvl="2" indent="-215291" algn="l">
              <a:lnSpc>
                <a:spcPts val="4520"/>
              </a:lnSpc>
            </a:pPr>
            <a:endParaRPr lang="en-US" sz="2825">
              <a:solidFill>
                <a:srgbClr val="804F3B"/>
              </a:solidFill>
              <a:latin typeface="Radley"/>
              <a:ea typeface="Radley"/>
              <a:cs typeface="Radley"/>
              <a:sym typeface="Radle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10102380" y="5381200"/>
            <a:ext cx="6638404" cy="4905800"/>
          </a:xfrm>
          <a:custGeom>
            <a:avLst/>
            <a:gdLst/>
            <a:ahLst/>
            <a:cxnLst/>
            <a:rect l="l" t="t" r="r" b="b"/>
            <a:pathLst>
              <a:path w="6638404" h="4905800">
                <a:moveTo>
                  <a:pt x="0" y="0"/>
                </a:moveTo>
                <a:lnTo>
                  <a:pt x="6638404" y="0"/>
                </a:lnTo>
                <a:lnTo>
                  <a:pt x="6638404" y="4905800"/>
                </a:lnTo>
                <a:lnTo>
                  <a:pt x="0" y="4905800"/>
                </a:lnTo>
                <a:lnTo>
                  <a:pt x="0" y="0"/>
                </a:lnTo>
                <a:close/>
              </a:path>
            </a:pathLst>
          </a:custGeom>
          <a:blipFill>
            <a:blip r:embed="rId2">
              <a:extLst>
                <a:ext uri="{96DAC541-7B7A-43D3-8B79-37D633B846F1}">
                  <asvg:svgBlip xmlns:asvg="http://schemas.microsoft.com/office/drawing/2016/SVG/main" r:embed="rId3"/>
                </a:ext>
              </a:extLst>
            </a:blip>
            <a:stretch>
              <a:fillRect t="-8" b="-8"/>
            </a:stretch>
          </a:blipFill>
        </p:spPr>
      </p:sp>
      <p:sp>
        <p:nvSpPr>
          <p:cNvPr id="7" name="TextBox 7"/>
          <p:cNvSpPr txBox="1"/>
          <p:nvPr/>
        </p:nvSpPr>
        <p:spPr>
          <a:xfrm>
            <a:off x="909975" y="723270"/>
            <a:ext cx="237450" cy="449553"/>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V</a:t>
            </a:r>
          </a:p>
        </p:txBody>
      </p:sp>
      <p:sp>
        <p:nvSpPr>
          <p:cNvPr id="8" name="TextBox 8"/>
          <p:cNvSpPr txBox="1"/>
          <p:nvPr/>
        </p:nvSpPr>
        <p:spPr>
          <a:xfrm>
            <a:off x="1505388" y="713924"/>
            <a:ext cx="4794422" cy="458899"/>
          </a:xfrm>
          <a:prstGeom prst="rect">
            <a:avLst/>
          </a:prstGeom>
        </p:spPr>
        <p:txBody>
          <a:bodyPr lIns="0" tIns="0" rIns="0" bIns="0" rtlCol="0" anchor="t">
            <a:spAutoFit/>
          </a:bodyPr>
          <a:lstStyle/>
          <a:p>
            <a:pPr algn="just">
              <a:lnSpc>
                <a:spcPts val="3472"/>
              </a:lnSpc>
            </a:pPr>
            <a:r>
              <a:rPr lang="en-US" sz="2967" b="1">
                <a:solidFill>
                  <a:srgbClr val="804F3B"/>
                </a:solidFill>
                <a:latin typeface="Raleway Bold"/>
                <a:ea typeface="Raleway Bold"/>
                <a:cs typeface="Raleway Bold"/>
                <a:sym typeface="Raleway Bold"/>
              </a:rPr>
              <a:t>SYSTEM ARCHITECTIRE</a:t>
            </a:r>
          </a:p>
        </p:txBody>
      </p:sp>
      <p:sp>
        <p:nvSpPr>
          <p:cNvPr id="9" name="TextBox 9"/>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7</a:t>
            </a:r>
          </a:p>
        </p:txBody>
      </p:sp>
      <p:pic>
        <p:nvPicPr>
          <p:cNvPr id="11" name="Picture 10">
            <a:extLst>
              <a:ext uri="{FF2B5EF4-FFF2-40B4-BE49-F238E27FC236}">
                <a16:creationId xmlns:a16="http://schemas.microsoft.com/office/drawing/2014/main" id="{3840246B-1528-EE04-B98F-7B6436F85F6E}"/>
              </a:ext>
            </a:extLst>
          </p:cNvPr>
          <p:cNvPicPr>
            <a:picLocks noChangeAspect="1"/>
          </p:cNvPicPr>
          <p:nvPr/>
        </p:nvPicPr>
        <p:blipFill>
          <a:blip r:embed="rId4"/>
          <a:stretch>
            <a:fillRect/>
          </a:stretch>
        </p:blipFill>
        <p:spPr>
          <a:xfrm>
            <a:off x="1295476" y="2028400"/>
            <a:ext cx="14858924" cy="6086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flipH="1">
            <a:off x="11256888" y="5785191"/>
            <a:ext cx="5483896" cy="4112922"/>
          </a:xfrm>
          <a:custGeom>
            <a:avLst/>
            <a:gdLst/>
            <a:ahLst/>
            <a:cxnLst/>
            <a:rect l="l" t="t" r="r" b="b"/>
            <a:pathLst>
              <a:path w="5483896" h="4112922">
                <a:moveTo>
                  <a:pt x="5483896" y="0"/>
                </a:moveTo>
                <a:lnTo>
                  <a:pt x="0" y="0"/>
                </a:lnTo>
                <a:lnTo>
                  <a:pt x="0" y="4112922"/>
                </a:lnTo>
                <a:lnTo>
                  <a:pt x="5483896" y="4112922"/>
                </a:lnTo>
                <a:lnTo>
                  <a:pt x="5483896" y="0"/>
                </a:lnTo>
                <a:close/>
              </a:path>
            </a:pathLst>
          </a:custGeom>
          <a:blipFill>
            <a:blip r:embed="rId2">
              <a:extLst>
                <a:ext uri="{96DAC541-7B7A-43D3-8B79-37D633B846F1}">
                  <asvg:svgBlip xmlns:asvg="http://schemas.microsoft.com/office/drawing/2016/SVG/main" r:embed="rId3"/>
                </a:ext>
              </a:extLst>
            </a:blip>
            <a:stretch>
              <a:fillRect t="-79" b="-79"/>
            </a:stretch>
          </a:blipFill>
        </p:spPr>
      </p:sp>
      <p:sp>
        <p:nvSpPr>
          <p:cNvPr id="6" name="TextBox 6"/>
          <p:cNvSpPr txBox="1"/>
          <p:nvPr/>
        </p:nvSpPr>
        <p:spPr>
          <a:xfrm>
            <a:off x="1028700" y="694436"/>
            <a:ext cx="395493" cy="458950"/>
          </a:xfrm>
          <a:prstGeom prst="rect">
            <a:avLst/>
          </a:prstGeom>
        </p:spPr>
        <p:txBody>
          <a:bodyPr lIns="0" tIns="0" rIns="0" bIns="0" rtlCol="0" anchor="t">
            <a:spAutoFit/>
          </a:bodyPr>
          <a:lstStyle/>
          <a:p>
            <a:pPr algn="just">
              <a:lnSpc>
                <a:spcPts val="3468"/>
              </a:lnSpc>
            </a:pPr>
            <a:r>
              <a:rPr lang="en-US" sz="2963" b="1">
                <a:solidFill>
                  <a:srgbClr val="804F3B"/>
                </a:solidFill>
                <a:latin typeface="Raleway Bold"/>
                <a:ea typeface="Raleway Bold"/>
                <a:cs typeface="Raleway Bold"/>
                <a:sym typeface="Raleway Bold"/>
              </a:rPr>
              <a:t>VI</a:t>
            </a:r>
          </a:p>
        </p:txBody>
      </p:sp>
      <p:sp>
        <p:nvSpPr>
          <p:cNvPr id="7" name="TextBox 7"/>
          <p:cNvSpPr txBox="1"/>
          <p:nvPr/>
        </p:nvSpPr>
        <p:spPr>
          <a:xfrm>
            <a:off x="1670588" y="713486"/>
            <a:ext cx="3235298" cy="449551"/>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EXPLANATION</a:t>
            </a:r>
          </a:p>
        </p:txBody>
      </p:sp>
      <p:sp>
        <p:nvSpPr>
          <p:cNvPr id="8" name="TextBox 8"/>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8</a:t>
            </a:r>
          </a:p>
        </p:txBody>
      </p:sp>
      <p:sp>
        <p:nvSpPr>
          <p:cNvPr id="9" name="TextBox 9"/>
          <p:cNvSpPr txBox="1"/>
          <p:nvPr/>
        </p:nvSpPr>
        <p:spPr>
          <a:xfrm>
            <a:off x="1028700" y="1574349"/>
            <a:ext cx="14674276" cy="7052577"/>
          </a:xfrm>
          <a:prstGeom prst="rect">
            <a:avLst/>
          </a:prstGeom>
        </p:spPr>
        <p:txBody>
          <a:bodyPr lIns="0" tIns="0" rIns="0" bIns="0" rtlCol="0" anchor="t">
            <a:spAutoFit/>
          </a:bodyPr>
          <a:lstStyle/>
          <a:p>
            <a:pPr algn="l">
              <a:lnSpc>
                <a:spcPts val="3546"/>
              </a:lnSpc>
            </a:pPr>
            <a:r>
              <a:rPr lang="en-US" sz="2216">
                <a:solidFill>
                  <a:srgbClr val="804F3B"/>
                </a:solidFill>
                <a:latin typeface="Radley"/>
                <a:ea typeface="Radley"/>
                <a:cs typeface="Radley"/>
                <a:sym typeface="Radley"/>
              </a:rPr>
              <a:t>VSG aims to develop an Android application that automatically generates summaries from videos, using a combination of Natural Language Processing (NLP) and Machine Learning (ML) technologies.</a:t>
            </a:r>
          </a:p>
          <a:p>
            <a:pPr marL="506747" lvl="2" indent="-168916" algn="l">
              <a:lnSpc>
                <a:spcPts val="3546"/>
              </a:lnSpc>
              <a:buAutoNum type="arabicPeriod"/>
            </a:pPr>
            <a:r>
              <a:rPr lang="en-US" sz="2216">
                <a:solidFill>
                  <a:srgbClr val="804F3B"/>
                </a:solidFill>
                <a:latin typeface="Radley"/>
                <a:ea typeface="Radley"/>
                <a:cs typeface="Radley"/>
                <a:sym typeface="Radley"/>
              </a:rPr>
              <a:t>User Input:</a:t>
            </a:r>
          </a:p>
          <a:p>
            <a:pPr marL="905606" lvl="3" indent="-226402" algn="l">
              <a:lnSpc>
                <a:spcPts val="3546"/>
              </a:lnSpc>
              <a:buFont typeface="Arial"/>
              <a:buChar char="￭"/>
            </a:pPr>
            <a:r>
              <a:rPr lang="en-US" sz="2216">
                <a:solidFill>
                  <a:srgbClr val="804F3B"/>
                </a:solidFill>
                <a:latin typeface="Radley"/>
                <a:ea typeface="Radley"/>
                <a:cs typeface="Radley"/>
                <a:sym typeface="Radley"/>
              </a:rPr>
              <a:t>The user provides a video file or a YouTube URL through the app.</a:t>
            </a:r>
          </a:p>
          <a:p>
            <a:pPr marL="506747" lvl="2" indent="-168916" algn="l">
              <a:lnSpc>
                <a:spcPts val="3546"/>
              </a:lnSpc>
              <a:buAutoNum type="arabicPeriod"/>
            </a:pPr>
            <a:r>
              <a:rPr lang="en-US" sz="2216">
                <a:solidFill>
                  <a:srgbClr val="804F3B"/>
                </a:solidFill>
                <a:latin typeface="Radley"/>
                <a:ea typeface="Radley"/>
                <a:cs typeface="Radley"/>
                <a:sym typeface="Radley"/>
              </a:rPr>
              <a:t>Audio Extraction:</a:t>
            </a:r>
          </a:p>
          <a:p>
            <a:pPr marL="880440" lvl="3" indent="-220110" algn="l">
              <a:lnSpc>
                <a:spcPts val="3448"/>
              </a:lnSpc>
              <a:buFont typeface="Arial"/>
              <a:buChar char="￭"/>
            </a:pPr>
            <a:r>
              <a:rPr lang="en-US" sz="2154">
                <a:solidFill>
                  <a:srgbClr val="804F3B"/>
                </a:solidFill>
                <a:latin typeface="Radley"/>
                <a:ea typeface="Radley"/>
                <a:cs typeface="Radley"/>
                <a:sym typeface="Radley"/>
              </a:rPr>
              <a:t>The app extracts audio from the video using a Video Handler Module.</a:t>
            </a:r>
          </a:p>
          <a:p>
            <a:pPr marL="492662" lvl="2" indent="-164221" algn="l">
              <a:lnSpc>
                <a:spcPts val="3448"/>
              </a:lnSpc>
              <a:buAutoNum type="arabicPeriod"/>
            </a:pPr>
            <a:r>
              <a:rPr lang="en-US" sz="2154">
                <a:solidFill>
                  <a:srgbClr val="804F3B"/>
                </a:solidFill>
                <a:latin typeface="Radley"/>
                <a:ea typeface="Radley"/>
                <a:cs typeface="Radley"/>
                <a:sym typeface="Radley"/>
              </a:rPr>
              <a:t>Speech-to-Text (ASR):</a:t>
            </a:r>
          </a:p>
          <a:p>
            <a:pPr marL="880440" lvl="3" indent="-220110" algn="l">
              <a:lnSpc>
                <a:spcPts val="3448"/>
              </a:lnSpc>
              <a:buFont typeface="Arial"/>
              <a:buChar char="￭"/>
            </a:pPr>
            <a:r>
              <a:rPr lang="en-US" sz="2154">
                <a:solidFill>
                  <a:srgbClr val="804F3B"/>
                </a:solidFill>
                <a:latin typeface="Radley"/>
                <a:ea typeface="Radley"/>
                <a:cs typeface="Radley"/>
                <a:sym typeface="Radley"/>
              </a:rPr>
              <a:t>The extracted audio is converted into text using Automatic Speech Recognition (ASR) powered by deep learning models (e.g., Whisper).</a:t>
            </a:r>
          </a:p>
          <a:p>
            <a:pPr marL="492662" lvl="2" indent="-164221" algn="l">
              <a:lnSpc>
                <a:spcPts val="3448"/>
              </a:lnSpc>
              <a:buAutoNum type="arabicPeriod"/>
            </a:pPr>
            <a:r>
              <a:rPr lang="en-US" sz="2154">
                <a:solidFill>
                  <a:srgbClr val="804F3B"/>
                </a:solidFill>
                <a:latin typeface="Radley"/>
                <a:ea typeface="Radley"/>
                <a:cs typeface="Radley"/>
                <a:sym typeface="Radley"/>
              </a:rPr>
              <a:t>Text Summarization:</a:t>
            </a:r>
          </a:p>
          <a:p>
            <a:pPr marL="880440" lvl="3" indent="-220110" algn="l">
              <a:lnSpc>
                <a:spcPts val="3448"/>
              </a:lnSpc>
              <a:buFont typeface="Arial"/>
              <a:buChar char="￭"/>
            </a:pPr>
            <a:r>
              <a:rPr lang="en-US" sz="2154">
                <a:solidFill>
                  <a:srgbClr val="804F3B"/>
                </a:solidFill>
                <a:latin typeface="Radley"/>
                <a:ea typeface="Radley"/>
                <a:cs typeface="Radley"/>
                <a:sym typeface="Radley"/>
              </a:rPr>
              <a:t>The transcribed text is processed using NLP techniques to generate:</a:t>
            </a:r>
          </a:p>
          <a:p>
            <a:pPr marL="1306994" lvl="4" indent="-261399" algn="l">
              <a:lnSpc>
                <a:spcPts val="3448"/>
              </a:lnSpc>
              <a:buFont typeface="Arial"/>
              <a:buChar char="•"/>
            </a:pPr>
            <a:r>
              <a:rPr lang="en-US" sz="2154">
                <a:solidFill>
                  <a:srgbClr val="804F3B"/>
                </a:solidFill>
                <a:latin typeface="Radley"/>
                <a:ea typeface="Radley"/>
                <a:cs typeface="Radley"/>
                <a:sym typeface="Radley"/>
              </a:rPr>
              <a:t>A detailed description</a:t>
            </a:r>
          </a:p>
          <a:p>
            <a:pPr marL="1306825" lvl="4" indent="-261365" algn="l">
              <a:lnSpc>
                <a:spcPts val="3448"/>
              </a:lnSpc>
              <a:buFont typeface="Arial"/>
              <a:buChar char="•"/>
            </a:pPr>
            <a:r>
              <a:rPr lang="en-US" sz="2154">
                <a:solidFill>
                  <a:srgbClr val="804F3B"/>
                </a:solidFill>
                <a:latin typeface="Radley"/>
                <a:ea typeface="Radley"/>
                <a:cs typeface="Radley"/>
                <a:sym typeface="Radley"/>
              </a:rPr>
              <a:t>A concise summary</a:t>
            </a:r>
          </a:p>
          <a:p>
            <a:pPr marL="506747" lvl="2" indent="-168916" algn="l">
              <a:lnSpc>
                <a:spcPts val="3546"/>
              </a:lnSpc>
              <a:buAutoNum type="arabicPeriod"/>
            </a:pPr>
            <a:r>
              <a:rPr lang="en-US" sz="2216">
                <a:solidFill>
                  <a:srgbClr val="804F3B"/>
                </a:solidFill>
                <a:latin typeface="Radley"/>
                <a:ea typeface="Radley"/>
                <a:cs typeface="Radley"/>
                <a:sym typeface="Radley"/>
              </a:rPr>
              <a:t>Output:</a:t>
            </a:r>
          </a:p>
          <a:p>
            <a:pPr marL="905606" lvl="3" indent="-226402" algn="l">
              <a:lnSpc>
                <a:spcPts val="3546"/>
              </a:lnSpc>
              <a:buFont typeface="Arial"/>
              <a:buChar char="￭"/>
            </a:pPr>
            <a:r>
              <a:rPr lang="en-US" sz="2216">
                <a:solidFill>
                  <a:srgbClr val="804F3B"/>
                </a:solidFill>
                <a:latin typeface="Radley"/>
                <a:ea typeface="Radley"/>
                <a:cs typeface="Radley"/>
                <a:sym typeface="Radley"/>
              </a:rPr>
              <a:t>The final summary and insights are displayed to the user in a readable format.</a:t>
            </a:r>
          </a:p>
          <a:p>
            <a:pPr marL="880427" lvl="3" indent="-220107" algn="l">
              <a:lnSpc>
                <a:spcPts val="3546"/>
              </a:lnSpc>
            </a:pPr>
            <a:endParaRPr lang="en-US" sz="2216">
              <a:solidFill>
                <a:srgbClr val="804F3B"/>
              </a:solidFill>
              <a:latin typeface="Radley"/>
              <a:ea typeface="Radley"/>
              <a:cs typeface="Radley"/>
              <a:sym typeface="Radle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TextBox 5"/>
          <p:cNvSpPr txBox="1"/>
          <p:nvPr/>
        </p:nvSpPr>
        <p:spPr>
          <a:xfrm>
            <a:off x="972017" y="658015"/>
            <a:ext cx="608530" cy="459128"/>
          </a:xfrm>
          <a:prstGeom prst="rect">
            <a:avLst/>
          </a:prstGeom>
        </p:spPr>
        <p:txBody>
          <a:bodyPr lIns="0" tIns="0" rIns="0" bIns="0" rtlCol="0" anchor="t">
            <a:spAutoFit/>
          </a:bodyPr>
          <a:lstStyle/>
          <a:p>
            <a:pPr algn="just">
              <a:lnSpc>
                <a:spcPts val="3529"/>
              </a:lnSpc>
            </a:pPr>
            <a:r>
              <a:rPr lang="en-US" sz="3015" b="1">
                <a:solidFill>
                  <a:srgbClr val="804F3B"/>
                </a:solidFill>
                <a:latin typeface="Raleway Bold"/>
                <a:ea typeface="Raleway Bold"/>
                <a:cs typeface="Raleway Bold"/>
                <a:sym typeface="Raleway Bold"/>
              </a:rPr>
              <a:t>VII</a:t>
            </a:r>
          </a:p>
        </p:txBody>
      </p:sp>
      <p:sp>
        <p:nvSpPr>
          <p:cNvPr id="6" name="TextBox 6"/>
          <p:cNvSpPr txBox="1"/>
          <p:nvPr/>
        </p:nvSpPr>
        <p:spPr>
          <a:xfrm>
            <a:off x="1580547" y="674899"/>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REQUIREMENTS</a:t>
            </a:r>
          </a:p>
        </p:txBody>
      </p:sp>
      <p:sp>
        <p:nvSpPr>
          <p:cNvPr id="7" name="TextBox 7"/>
          <p:cNvSpPr txBox="1"/>
          <p:nvPr/>
        </p:nvSpPr>
        <p:spPr>
          <a:xfrm>
            <a:off x="16918147"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9</a:t>
            </a:r>
          </a:p>
        </p:txBody>
      </p:sp>
      <p:sp>
        <p:nvSpPr>
          <p:cNvPr id="8" name="TextBox 8"/>
          <p:cNvSpPr txBox="1"/>
          <p:nvPr/>
        </p:nvSpPr>
        <p:spPr>
          <a:xfrm>
            <a:off x="8665219" y="2598050"/>
            <a:ext cx="4207736" cy="2044065"/>
          </a:xfrm>
          <a:prstGeom prst="rect">
            <a:avLst/>
          </a:prstGeom>
        </p:spPr>
        <p:txBody>
          <a:bodyPr lIns="0" tIns="0" rIns="0" bIns="0" rtlCol="0" anchor="t">
            <a:spAutoFit/>
          </a:bodyPr>
          <a:lstStyle/>
          <a:p>
            <a:pPr marL="639958" lvl="2" indent="-213319" algn="l">
              <a:lnSpc>
                <a:spcPts val="5038"/>
              </a:lnSpc>
              <a:buFont typeface="Arial"/>
              <a:buChar char="⚬"/>
            </a:pPr>
            <a:r>
              <a:rPr lang="en-US" sz="2799">
                <a:solidFill>
                  <a:srgbClr val="804F3B"/>
                </a:solidFill>
                <a:latin typeface="Raleway"/>
                <a:ea typeface="Raleway"/>
                <a:cs typeface="Raleway"/>
                <a:sym typeface="Raleway"/>
              </a:rPr>
              <a:t>Android studio</a:t>
            </a:r>
          </a:p>
          <a:p>
            <a:pPr marL="639958" lvl="2" indent="-213319" algn="l">
              <a:lnSpc>
                <a:spcPts val="5038"/>
              </a:lnSpc>
              <a:buFont typeface="Arial"/>
              <a:buChar char="⚬"/>
            </a:pPr>
            <a:r>
              <a:rPr lang="en-US" sz="2799">
                <a:solidFill>
                  <a:srgbClr val="804F3B"/>
                </a:solidFill>
                <a:latin typeface="Raleway"/>
                <a:ea typeface="Raleway"/>
                <a:cs typeface="Raleway"/>
                <a:sym typeface="Raleway"/>
              </a:rPr>
              <a:t>Flutter</a:t>
            </a:r>
          </a:p>
          <a:p>
            <a:pPr marL="639958" lvl="2" indent="-213319" algn="l">
              <a:lnSpc>
                <a:spcPts val="5038"/>
              </a:lnSpc>
              <a:buFont typeface="Arial"/>
              <a:buChar char="⚬"/>
            </a:pPr>
            <a:r>
              <a:rPr lang="en-US" sz="2799">
                <a:solidFill>
                  <a:srgbClr val="804F3B"/>
                </a:solidFill>
                <a:latin typeface="Raleway"/>
                <a:ea typeface="Raleway"/>
                <a:cs typeface="Raleway"/>
                <a:sym typeface="Raleway"/>
              </a:rPr>
              <a:t>python</a:t>
            </a:r>
          </a:p>
        </p:txBody>
      </p:sp>
      <p:sp>
        <p:nvSpPr>
          <p:cNvPr id="9" name="TextBox 9"/>
          <p:cNvSpPr txBox="1"/>
          <p:nvPr/>
        </p:nvSpPr>
        <p:spPr>
          <a:xfrm>
            <a:off x="9144000" y="1472212"/>
            <a:ext cx="5366747" cy="683870"/>
          </a:xfrm>
          <a:prstGeom prst="rect">
            <a:avLst/>
          </a:prstGeom>
        </p:spPr>
        <p:txBody>
          <a:bodyPr lIns="0" tIns="0" rIns="0" bIns="0" rtlCol="0" anchor="t">
            <a:spAutoFit/>
          </a:bodyPr>
          <a:lstStyle/>
          <a:p>
            <a:pPr algn="l">
              <a:lnSpc>
                <a:spcPts val="5758"/>
              </a:lnSpc>
            </a:pPr>
            <a:r>
              <a:rPr lang="en-US" sz="3598">
                <a:solidFill>
                  <a:srgbClr val="804F3B"/>
                </a:solidFill>
                <a:latin typeface="Radley"/>
                <a:ea typeface="Radley"/>
                <a:cs typeface="Radley"/>
                <a:sym typeface="Radley"/>
              </a:rPr>
              <a:t>Software Requirements</a:t>
            </a:r>
          </a:p>
        </p:txBody>
      </p:sp>
      <p:sp>
        <p:nvSpPr>
          <p:cNvPr id="10" name="TextBox 10"/>
          <p:cNvSpPr txBox="1"/>
          <p:nvPr/>
        </p:nvSpPr>
        <p:spPr>
          <a:xfrm>
            <a:off x="8880906" y="6589797"/>
            <a:ext cx="5892935" cy="2044065"/>
          </a:xfrm>
          <a:prstGeom prst="rect">
            <a:avLst/>
          </a:prstGeom>
        </p:spPr>
        <p:txBody>
          <a:bodyPr lIns="0" tIns="0" rIns="0" bIns="0" rtlCol="0" anchor="t">
            <a:spAutoFit/>
          </a:bodyPr>
          <a:lstStyle/>
          <a:p>
            <a:pPr marL="639958" lvl="2" indent="-213319" algn="l">
              <a:lnSpc>
                <a:spcPts val="5038"/>
              </a:lnSpc>
              <a:buFont typeface="Arial"/>
              <a:buChar char="⚬"/>
            </a:pPr>
            <a:r>
              <a:rPr lang="en-US" sz="2799">
                <a:solidFill>
                  <a:srgbClr val="804F3B"/>
                </a:solidFill>
                <a:latin typeface="Raleway"/>
                <a:ea typeface="Raleway"/>
                <a:cs typeface="Raleway"/>
                <a:sym typeface="Raleway"/>
              </a:rPr>
              <a:t>Processor: Intel i5/i7 </a:t>
            </a:r>
          </a:p>
          <a:p>
            <a:pPr marL="639958" lvl="2" indent="-213319" algn="l">
              <a:lnSpc>
                <a:spcPts val="5038"/>
              </a:lnSpc>
              <a:buFont typeface="Arial"/>
              <a:buChar char="⚬"/>
            </a:pPr>
            <a:r>
              <a:rPr lang="en-US" sz="2799">
                <a:solidFill>
                  <a:srgbClr val="804F3B"/>
                </a:solidFill>
                <a:latin typeface="Raleway"/>
                <a:ea typeface="Raleway"/>
                <a:cs typeface="Raleway"/>
                <a:sym typeface="Raleway"/>
              </a:rPr>
              <a:t>RAM:mininum 8GB</a:t>
            </a:r>
          </a:p>
          <a:p>
            <a:pPr marL="639958" lvl="2" indent="-213319" algn="l">
              <a:lnSpc>
                <a:spcPts val="5038"/>
              </a:lnSpc>
              <a:buFont typeface="Arial"/>
              <a:buChar char="⚬"/>
            </a:pPr>
            <a:r>
              <a:rPr lang="en-US" sz="2799">
                <a:solidFill>
                  <a:srgbClr val="804F3B"/>
                </a:solidFill>
                <a:latin typeface="Raleway"/>
                <a:ea typeface="Raleway"/>
                <a:cs typeface="Raleway"/>
                <a:sym typeface="Raleway"/>
              </a:rPr>
              <a:t>storage: atleast 200 free for app</a:t>
            </a:r>
          </a:p>
        </p:txBody>
      </p:sp>
      <p:sp>
        <p:nvSpPr>
          <p:cNvPr id="11" name="TextBox 11"/>
          <p:cNvSpPr txBox="1"/>
          <p:nvPr/>
        </p:nvSpPr>
        <p:spPr>
          <a:xfrm>
            <a:off x="9144000" y="5324876"/>
            <a:ext cx="5366747" cy="826771"/>
          </a:xfrm>
          <a:prstGeom prst="rect">
            <a:avLst/>
          </a:prstGeom>
        </p:spPr>
        <p:txBody>
          <a:bodyPr lIns="0" tIns="0" rIns="0" bIns="0" rtlCol="0" anchor="t">
            <a:spAutoFit/>
          </a:bodyPr>
          <a:lstStyle/>
          <a:p>
            <a:pPr algn="l">
              <a:lnSpc>
                <a:spcPts val="5758"/>
              </a:lnSpc>
            </a:pPr>
            <a:r>
              <a:rPr lang="en-US" sz="3598">
                <a:solidFill>
                  <a:srgbClr val="804F3B"/>
                </a:solidFill>
                <a:latin typeface="Radley"/>
                <a:ea typeface="Radley"/>
                <a:cs typeface="Radley"/>
                <a:sym typeface="Radley"/>
              </a:rPr>
              <a:t>Hardware Requiements</a:t>
            </a:r>
          </a:p>
        </p:txBody>
      </p:sp>
      <p:sp>
        <p:nvSpPr>
          <p:cNvPr id="12" name="Freeform 12"/>
          <p:cNvSpPr/>
          <p:nvPr/>
        </p:nvSpPr>
        <p:spPr>
          <a:xfrm>
            <a:off x="640707" y="4028931"/>
            <a:ext cx="5614687" cy="5441142"/>
          </a:xfrm>
          <a:custGeom>
            <a:avLst/>
            <a:gdLst/>
            <a:ahLst/>
            <a:cxnLst/>
            <a:rect l="l" t="t" r="r" b="b"/>
            <a:pathLst>
              <a:path w="5614687" h="5441142">
                <a:moveTo>
                  <a:pt x="0" y="0"/>
                </a:moveTo>
                <a:lnTo>
                  <a:pt x="5614687" y="0"/>
                </a:lnTo>
                <a:lnTo>
                  <a:pt x="5614687" y="5441141"/>
                </a:lnTo>
                <a:lnTo>
                  <a:pt x="0" y="5441141"/>
                </a:lnTo>
                <a:lnTo>
                  <a:pt x="0" y="0"/>
                </a:lnTo>
                <a:close/>
              </a:path>
            </a:pathLst>
          </a:custGeom>
          <a:blipFill>
            <a:blip r:embed="rId2">
              <a:extLst>
                <a:ext uri="{96DAC541-7B7A-43D3-8B79-37D633B846F1}">
                  <asvg:svgBlip xmlns:asvg="http://schemas.microsoft.com/office/drawing/2016/SVG/main" r:embed="rId3"/>
                </a:ext>
              </a:extLst>
            </a:blip>
            <a:stretch>
              <a:fillRect l="-60" r="-60"/>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1090420" y="2684364"/>
            <a:ext cx="8280850" cy="6459636"/>
          </a:xfrm>
          <a:custGeom>
            <a:avLst/>
            <a:gdLst/>
            <a:ahLst/>
            <a:cxnLst/>
            <a:rect l="l" t="t" r="r" b="b"/>
            <a:pathLst>
              <a:path w="8087027" h="5825403">
                <a:moveTo>
                  <a:pt x="0" y="0"/>
                </a:moveTo>
                <a:lnTo>
                  <a:pt x="8087026" y="0"/>
                </a:lnTo>
                <a:lnTo>
                  <a:pt x="8087026" y="5825403"/>
                </a:lnTo>
                <a:lnTo>
                  <a:pt x="0" y="5825403"/>
                </a:lnTo>
                <a:lnTo>
                  <a:pt x="0" y="0"/>
                </a:lnTo>
                <a:close/>
              </a:path>
            </a:pathLst>
          </a:custGeom>
          <a:blipFill>
            <a:blip r:embed="rId2"/>
            <a:stretch>
              <a:fillRect t="-281" r="-8727" b="-281"/>
            </a:stretch>
          </a:blipFill>
        </p:spPr>
      </p:sp>
      <p:sp>
        <p:nvSpPr>
          <p:cNvPr id="7" name="TextBox 7"/>
          <p:cNvSpPr txBox="1"/>
          <p:nvPr/>
        </p:nvSpPr>
        <p:spPr>
          <a:xfrm>
            <a:off x="896115" y="429333"/>
            <a:ext cx="740069" cy="458841"/>
          </a:xfrm>
          <a:prstGeom prst="rect">
            <a:avLst/>
          </a:prstGeom>
        </p:spPr>
        <p:txBody>
          <a:bodyPr lIns="0" tIns="0" rIns="0" bIns="0" rtlCol="0" anchor="t">
            <a:spAutoFit/>
          </a:bodyPr>
          <a:lstStyle/>
          <a:p>
            <a:pPr algn="just">
              <a:lnSpc>
                <a:spcPts val="3452"/>
              </a:lnSpc>
            </a:pPr>
            <a:r>
              <a:rPr lang="en-US" sz="2949" b="1">
                <a:solidFill>
                  <a:srgbClr val="804F3B"/>
                </a:solidFill>
                <a:latin typeface="Raleway Bold"/>
                <a:ea typeface="Raleway Bold"/>
                <a:cs typeface="Raleway Bold"/>
                <a:sym typeface="Raleway Bold"/>
              </a:rPr>
              <a:t>VIII</a:t>
            </a:r>
          </a:p>
        </p:txBody>
      </p:sp>
      <p:sp>
        <p:nvSpPr>
          <p:cNvPr id="8" name="TextBox 8"/>
          <p:cNvSpPr txBox="1"/>
          <p:nvPr/>
        </p:nvSpPr>
        <p:spPr>
          <a:xfrm>
            <a:off x="1995547" y="438858"/>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DESIGN</a:t>
            </a:r>
          </a:p>
        </p:txBody>
      </p:sp>
      <p:sp>
        <p:nvSpPr>
          <p:cNvPr id="9" name="TextBox 9"/>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10</a:t>
            </a:r>
          </a:p>
        </p:txBody>
      </p:sp>
      <p:sp>
        <p:nvSpPr>
          <p:cNvPr id="10" name="TextBox 10"/>
          <p:cNvSpPr txBox="1"/>
          <p:nvPr/>
        </p:nvSpPr>
        <p:spPr>
          <a:xfrm>
            <a:off x="1413693" y="2004637"/>
            <a:ext cx="5366747" cy="646389"/>
          </a:xfrm>
          <a:prstGeom prst="rect">
            <a:avLst/>
          </a:prstGeom>
        </p:spPr>
        <p:txBody>
          <a:bodyPr lIns="0" tIns="0" rIns="0" bIns="0" rtlCol="0" anchor="t">
            <a:spAutoFit/>
          </a:bodyPr>
          <a:lstStyle/>
          <a:p>
            <a:pPr algn="l">
              <a:lnSpc>
                <a:spcPts val="5439"/>
              </a:lnSpc>
            </a:pPr>
            <a:r>
              <a:rPr lang="en-US" sz="3600" dirty="0">
                <a:solidFill>
                  <a:srgbClr val="804F3B"/>
                </a:solidFill>
                <a:latin typeface="Radley"/>
                <a:ea typeface="Radley"/>
                <a:cs typeface="Radley"/>
                <a:sym typeface="Radley"/>
              </a:rPr>
              <a:t>Class diagram</a:t>
            </a:r>
          </a:p>
        </p:txBody>
      </p:sp>
      <p:sp>
        <p:nvSpPr>
          <p:cNvPr id="11" name="TextBox 11"/>
          <p:cNvSpPr txBox="1"/>
          <p:nvPr/>
        </p:nvSpPr>
        <p:spPr>
          <a:xfrm>
            <a:off x="11507560" y="1938432"/>
            <a:ext cx="5366747" cy="702693"/>
          </a:xfrm>
          <a:prstGeom prst="rect">
            <a:avLst/>
          </a:prstGeom>
        </p:spPr>
        <p:txBody>
          <a:bodyPr lIns="0" tIns="0" rIns="0" bIns="0" rtlCol="0" anchor="t">
            <a:spAutoFit/>
          </a:bodyPr>
          <a:lstStyle/>
          <a:p>
            <a:pPr>
              <a:lnSpc>
                <a:spcPts val="5919"/>
              </a:lnSpc>
            </a:pPr>
            <a:r>
              <a:rPr lang="en-US" sz="3600" dirty="0">
                <a:solidFill>
                  <a:srgbClr val="804F3B"/>
                </a:solidFill>
                <a:latin typeface="Radley"/>
                <a:ea typeface="Radley"/>
                <a:cs typeface="Radley"/>
                <a:sym typeface="Radley"/>
              </a:rPr>
              <a:t>Activity diagram</a:t>
            </a:r>
          </a:p>
        </p:txBody>
      </p:sp>
      <p:pic>
        <p:nvPicPr>
          <p:cNvPr id="15" name="Picture 14">
            <a:extLst>
              <a:ext uri="{FF2B5EF4-FFF2-40B4-BE49-F238E27FC236}">
                <a16:creationId xmlns:a16="http://schemas.microsoft.com/office/drawing/2014/main" id="{03A7E9B6-C63D-63D1-83F7-475928919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7863" y="2651026"/>
            <a:ext cx="4179557" cy="64929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7" name="TextBox 7"/>
          <p:cNvSpPr txBox="1"/>
          <p:nvPr/>
        </p:nvSpPr>
        <p:spPr>
          <a:xfrm>
            <a:off x="1323975" y="342900"/>
            <a:ext cx="3235298" cy="390525"/>
          </a:xfrm>
          <a:prstGeom prst="rect">
            <a:avLst/>
          </a:prstGeom>
        </p:spPr>
        <p:txBody>
          <a:bodyPr lIns="0" tIns="0" rIns="0" bIns="0" rtlCol="0" anchor="t">
            <a:spAutoFit/>
          </a:bodyPr>
          <a:lstStyle/>
          <a:p>
            <a:pPr algn="just">
              <a:lnSpc>
                <a:spcPts val="2924"/>
              </a:lnSpc>
            </a:pPr>
            <a:r>
              <a:rPr lang="en-US" sz="2499" b="1">
                <a:solidFill>
                  <a:srgbClr val="804F3B"/>
                </a:solidFill>
                <a:latin typeface="Raleway Bold"/>
                <a:ea typeface="Raleway Bold"/>
                <a:cs typeface="Raleway Bold"/>
                <a:sym typeface="Raleway Bold"/>
              </a:rPr>
              <a:t>DESIGN</a:t>
            </a:r>
          </a:p>
        </p:txBody>
      </p:sp>
      <p:sp>
        <p:nvSpPr>
          <p:cNvPr id="8" name="TextBox 8"/>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10</a:t>
            </a:r>
          </a:p>
        </p:txBody>
      </p:sp>
      <p:sp>
        <p:nvSpPr>
          <p:cNvPr id="9" name="TextBox 9"/>
          <p:cNvSpPr txBox="1"/>
          <p:nvPr/>
        </p:nvSpPr>
        <p:spPr>
          <a:xfrm>
            <a:off x="1323975" y="1692335"/>
            <a:ext cx="5366747" cy="697816"/>
          </a:xfrm>
          <a:prstGeom prst="rect">
            <a:avLst/>
          </a:prstGeom>
        </p:spPr>
        <p:txBody>
          <a:bodyPr lIns="0" tIns="0" rIns="0" bIns="0" rtlCol="0" anchor="t">
            <a:spAutoFit/>
          </a:bodyPr>
          <a:lstStyle/>
          <a:p>
            <a:pPr algn="l">
              <a:lnSpc>
                <a:spcPts val="5919"/>
              </a:lnSpc>
            </a:pPr>
            <a:r>
              <a:rPr lang="en-US" sz="3698" dirty="0">
                <a:solidFill>
                  <a:srgbClr val="804F3B"/>
                </a:solidFill>
                <a:latin typeface="Radley"/>
                <a:ea typeface="Radley"/>
                <a:cs typeface="Radley"/>
                <a:sym typeface="Radley"/>
              </a:rPr>
              <a:t>Object diagram</a:t>
            </a:r>
          </a:p>
        </p:txBody>
      </p:sp>
      <p:pic>
        <p:nvPicPr>
          <p:cNvPr id="12" name="Picture 11">
            <a:extLst>
              <a:ext uri="{FF2B5EF4-FFF2-40B4-BE49-F238E27FC236}">
                <a16:creationId xmlns:a16="http://schemas.microsoft.com/office/drawing/2014/main" id="{27C3CF5A-32B5-9AE8-751F-10E8B6365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2476500"/>
            <a:ext cx="14859000" cy="60991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6" name="Freeform 6"/>
          <p:cNvSpPr/>
          <p:nvPr/>
        </p:nvSpPr>
        <p:spPr>
          <a:xfrm>
            <a:off x="9935971" y="2505077"/>
            <a:ext cx="6716860" cy="6521344"/>
          </a:xfrm>
          <a:custGeom>
            <a:avLst/>
            <a:gdLst/>
            <a:ahLst/>
            <a:cxnLst/>
            <a:rect l="l" t="t" r="r" b="b"/>
            <a:pathLst>
              <a:path w="6716860" h="6521344">
                <a:moveTo>
                  <a:pt x="0" y="0"/>
                </a:moveTo>
                <a:lnTo>
                  <a:pt x="6716860" y="0"/>
                </a:lnTo>
                <a:lnTo>
                  <a:pt x="6716860" y="6521344"/>
                </a:lnTo>
                <a:lnTo>
                  <a:pt x="0" y="6521344"/>
                </a:lnTo>
                <a:lnTo>
                  <a:pt x="0" y="0"/>
                </a:lnTo>
                <a:close/>
              </a:path>
            </a:pathLst>
          </a:custGeom>
          <a:blipFill>
            <a:blip r:embed="rId2"/>
            <a:stretch>
              <a:fillRect t="-2998"/>
            </a:stretch>
          </a:blipFill>
        </p:spPr>
      </p:sp>
      <p:sp>
        <p:nvSpPr>
          <p:cNvPr id="7" name="TextBox 7"/>
          <p:cNvSpPr txBox="1"/>
          <p:nvPr/>
        </p:nvSpPr>
        <p:spPr>
          <a:xfrm>
            <a:off x="762000" y="419100"/>
            <a:ext cx="3235298" cy="390525"/>
          </a:xfrm>
          <a:prstGeom prst="rect">
            <a:avLst/>
          </a:prstGeom>
        </p:spPr>
        <p:txBody>
          <a:bodyPr lIns="0" tIns="0" rIns="0" bIns="0" rtlCol="0" anchor="t">
            <a:spAutoFit/>
          </a:bodyPr>
          <a:lstStyle/>
          <a:p>
            <a:pPr algn="just">
              <a:lnSpc>
                <a:spcPts val="2924"/>
              </a:lnSpc>
            </a:pPr>
            <a:r>
              <a:rPr lang="en-US" sz="2499" b="1" dirty="0">
                <a:solidFill>
                  <a:srgbClr val="804F3B"/>
                </a:solidFill>
                <a:latin typeface="Raleway Bold"/>
                <a:ea typeface="Raleway Bold"/>
                <a:cs typeface="Raleway Bold"/>
                <a:sym typeface="Raleway Bold"/>
              </a:rPr>
              <a:t>DESIGN</a:t>
            </a:r>
          </a:p>
        </p:txBody>
      </p:sp>
      <p:sp>
        <p:nvSpPr>
          <p:cNvPr id="8" name="TextBox 8"/>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10</a:t>
            </a:r>
          </a:p>
        </p:txBody>
      </p:sp>
      <p:sp>
        <p:nvSpPr>
          <p:cNvPr id="9" name="TextBox 9"/>
          <p:cNvSpPr txBox="1"/>
          <p:nvPr/>
        </p:nvSpPr>
        <p:spPr>
          <a:xfrm>
            <a:off x="2935694" y="1518992"/>
            <a:ext cx="5366747" cy="820802"/>
          </a:xfrm>
          <a:prstGeom prst="rect">
            <a:avLst/>
          </a:prstGeom>
        </p:spPr>
        <p:txBody>
          <a:bodyPr lIns="0" tIns="0" rIns="0" bIns="0" rtlCol="0" anchor="t">
            <a:spAutoFit/>
          </a:bodyPr>
          <a:lstStyle/>
          <a:p>
            <a:pPr algn="l">
              <a:lnSpc>
                <a:spcPts val="6879"/>
              </a:lnSpc>
            </a:pPr>
            <a:r>
              <a:rPr lang="en-US" sz="4298" dirty="0" err="1">
                <a:solidFill>
                  <a:srgbClr val="804F3B"/>
                </a:solidFill>
                <a:latin typeface="Radley"/>
                <a:ea typeface="Radley"/>
                <a:cs typeface="Radley"/>
                <a:sym typeface="Radley"/>
              </a:rPr>
              <a:t>Usecase</a:t>
            </a:r>
            <a:r>
              <a:rPr lang="en-US" sz="4298" dirty="0">
                <a:solidFill>
                  <a:srgbClr val="804F3B"/>
                </a:solidFill>
                <a:latin typeface="Radley"/>
                <a:ea typeface="Radley"/>
                <a:cs typeface="Radley"/>
                <a:sym typeface="Radley"/>
              </a:rPr>
              <a:t> diagram</a:t>
            </a:r>
          </a:p>
        </p:txBody>
      </p:sp>
      <p:sp>
        <p:nvSpPr>
          <p:cNvPr id="10" name="TextBox 10"/>
          <p:cNvSpPr txBox="1"/>
          <p:nvPr/>
        </p:nvSpPr>
        <p:spPr>
          <a:xfrm>
            <a:off x="11049000" y="1618485"/>
            <a:ext cx="5710833" cy="721309"/>
          </a:xfrm>
          <a:prstGeom prst="rect">
            <a:avLst/>
          </a:prstGeom>
        </p:spPr>
        <p:txBody>
          <a:bodyPr wrap="square" lIns="0" tIns="0" rIns="0" bIns="0" rtlCol="0" anchor="t">
            <a:spAutoFit/>
          </a:bodyPr>
          <a:lstStyle/>
          <a:p>
            <a:pPr algn="l">
              <a:lnSpc>
                <a:spcPts val="6079"/>
              </a:lnSpc>
            </a:pPr>
            <a:r>
              <a:rPr lang="en-US" sz="3798" dirty="0">
                <a:solidFill>
                  <a:srgbClr val="804F3B"/>
                </a:solidFill>
                <a:latin typeface="Radley"/>
                <a:ea typeface="Radley"/>
                <a:cs typeface="Radley"/>
                <a:sym typeface="Radley"/>
              </a:rPr>
              <a:t>Sequence diagram</a:t>
            </a:r>
          </a:p>
        </p:txBody>
      </p:sp>
      <p:pic>
        <p:nvPicPr>
          <p:cNvPr id="12" name="Picture 11">
            <a:extLst>
              <a:ext uri="{FF2B5EF4-FFF2-40B4-BE49-F238E27FC236}">
                <a16:creationId xmlns:a16="http://schemas.microsoft.com/office/drawing/2014/main" id="{8169BCBD-675A-D538-D2B2-9EE349C56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382" y="2495550"/>
            <a:ext cx="8962932" cy="6515100"/>
          </a:xfrm>
          <a:prstGeom prst="rect">
            <a:avLst/>
          </a:prstGeom>
        </p:spPr>
      </p:pic>
      <p:pic>
        <p:nvPicPr>
          <p:cNvPr id="14" name="Picture 13">
            <a:extLst>
              <a:ext uri="{FF2B5EF4-FFF2-40B4-BE49-F238E27FC236}">
                <a16:creationId xmlns:a16="http://schemas.microsoft.com/office/drawing/2014/main" id="{6C518CF8-5C14-588C-A933-900803C2F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5970" y="2505076"/>
            <a:ext cx="6804813" cy="65150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6" name="TextBox 6"/>
          <p:cNvSpPr txBox="1"/>
          <p:nvPr/>
        </p:nvSpPr>
        <p:spPr>
          <a:xfrm>
            <a:off x="1121807" y="362659"/>
            <a:ext cx="3235298" cy="390525"/>
          </a:xfrm>
          <a:prstGeom prst="rect">
            <a:avLst/>
          </a:prstGeom>
        </p:spPr>
        <p:txBody>
          <a:bodyPr lIns="0" tIns="0" rIns="0" bIns="0" rtlCol="0" anchor="t">
            <a:spAutoFit/>
          </a:bodyPr>
          <a:lstStyle/>
          <a:p>
            <a:pPr algn="just">
              <a:lnSpc>
                <a:spcPts val="2924"/>
              </a:lnSpc>
            </a:pPr>
            <a:r>
              <a:rPr lang="en-US" sz="2499" b="1" dirty="0">
                <a:solidFill>
                  <a:srgbClr val="804F3B"/>
                </a:solidFill>
                <a:latin typeface="Raleway Bold"/>
                <a:ea typeface="Raleway Bold"/>
                <a:cs typeface="Raleway Bold"/>
                <a:sym typeface="Raleway Bold"/>
              </a:rPr>
              <a:t>DESIGN</a:t>
            </a:r>
          </a:p>
        </p:txBody>
      </p:sp>
      <p:sp>
        <p:nvSpPr>
          <p:cNvPr id="7" name="TextBox 7"/>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10</a:t>
            </a:r>
          </a:p>
        </p:txBody>
      </p:sp>
      <p:sp>
        <p:nvSpPr>
          <p:cNvPr id="8" name="TextBox 8"/>
          <p:cNvSpPr txBox="1"/>
          <p:nvPr/>
        </p:nvSpPr>
        <p:spPr>
          <a:xfrm>
            <a:off x="9200043" y="1306879"/>
            <a:ext cx="5366747" cy="697816"/>
          </a:xfrm>
          <a:prstGeom prst="rect">
            <a:avLst/>
          </a:prstGeom>
        </p:spPr>
        <p:txBody>
          <a:bodyPr lIns="0" tIns="0" rIns="0" bIns="0" rtlCol="0" anchor="t">
            <a:spAutoFit/>
          </a:bodyPr>
          <a:lstStyle/>
          <a:p>
            <a:pPr algn="l">
              <a:lnSpc>
                <a:spcPts val="5919"/>
              </a:lnSpc>
            </a:pPr>
            <a:r>
              <a:rPr lang="en-US" sz="3698" dirty="0">
                <a:solidFill>
                  <a:srgbClr val="804F3B"/>
                </a:solidFill>
                <a:latin typeface="Radley"/>
                <a:ea typeface="Radley"/>
                <a:cs typeface="Radley"/>
                <a:sym typeface="Radley"/>
              </a:rPr>
              <a:t>State Chart diagram</a:t>
            </a:r>
          </a:p>
        </p:txBody>
      </p:sp>
      <p:pic>
        <p:nvPicPr>
          <p:cNvPr id="14" name="Picture 13">
            <a:extLst>
              <a:ext uri="{FF2B5EF4-FFF2-40B4-BE49-F238E27FC236}">
                <a16:creationId xmlns:a16="http://schemas.microsoft.com/office/drawing/2014/main" id="{CF1511AC-B37E-EC0B-1F1F-25402BCF4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0043" y="2004695"/>
            <a:ext cx="7210198" cy="7482205"/>
          </a:xfrm>
          <a:prstGeom prst="rect">
            <a:avLst/>
          </a:prstGeom>
        </p:spPr>
      </p:pic>
      <p:sp>
        <p:nvSpPr>
          <p:cNvPr id="15" name="TextBox 8">
            <a:extLst>
              <a:ext uri="{FF2B5EF4-FFF2-40B4-BE49-F238E27FC236}">
                <a16:creationId xmlns:a16="http://schemas.microsoft.com/office/drawing/2014/main" id="{7DADECE6-21B1-445A-18FB-351345BF6FB4}"/>
              </a:ext>
            </a:extLst>
          </p:cNvPr>
          <p:cNvSpPr txBox="1"/>
          <p:nvPr/>
        </p:nvSpPr>
        <p:spPr>
          <a:xfrm>
            <a:off x="1126569" y="1306879"/>
            <a:ext cx="5366747" cy="697816"/>
          </a:xfrm>
          <a:prstGeom prst="rect">
            <a:avLst/>
          </a:prstGeom>
        </p:spPr>
        <p:txBody>
          <a:bodyPr lIns="0" tIns="0" rIns="0" bIns="0" rtlCol="0" anchor="t">
            <a:spAutoFit/>
          </a:bodyPr>
          <a:lstStyle/>
          <a:p>
            <a:pPr algn="l">
              <a:lnSpc>
                <a:spcPts val="5919"/>
              </a:lnSpc>
            </a:pPr>
            <a:r>
              <a:rPr lang="en-US" sz="3698" dirty="0">
                <a:solidFill>
                  <a:srgbClr val="804F3B"/>
                </a:solidFill>
                <a:latin typeface="Radley"/>
                <a:ea typeface="Radley"/>
                <a:cs typeface="Radley"/>
                <a:sym typeface="Radley"/>
              </a:rPr>
              <a:t>Collaboration diagram</a:t>
            </a:r>
          </a:p>
        </p:txBody>
      </p:sp>
      <p:pic>
        <p:nvPicPr>
          <p:cNvPr id="17" name="Picture 16">
            <a:extLst>
              <a:ext uri="{FF2B5EF4-FFF2-40B4-BE49-F238E27FC236}">
                <a16:creationId xmlns:a16="http://schemas.microsoft.com/office/drawing/2014/main" id="{43EEAEC2-B3C9-B336-276C-35961CA0D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807" y="2004695"/>
            <a:ext cx="7210198" cy="74822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TextBox 5"/>
          <p:cNvSpPr txBox="1"/>
          <p:nvPr/>
        </p:nvSpPr>
        <p:spPr>
          <a:xfrm>
            <a:off x="827675" y="703961"/>
            <a:ext cx="533725"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IX</a:t>
            </a:r>
          </a:p>
        </p:txBody>
      </p:sp>
      <p:sp>
        <p:nvSpPr>
          <p:cNvPr id="6" name="TextBox 6"/>
          <p:cNvSpPr txBox="1"/>
          <p:nvPr/>
        </p:nvSpPr>
        <p:spPr>
          <a:xfrm>
            <a:off x="1625567" y="703961"/>
            <a:ext cx="344950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IMPLEMENTATION</a:t>
            </a:r>
          </a:p>
        </p:txBody>
      </p:sp>
      <p:sp>
        <p:nvSpPr>
          <p:cNvPr id="7" name="TextBox 7"/>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11</a:t>
            </a:r>
          </a:p>
        </p:txBody>
      </p:sp>
      <p:sp>
        <p:nvSpPr>
          <p:cNvPr id="9" name="TextBox 9"/>
          <p:cNvSpPr txBox="1"/>
          <p:nvPr/>
        </p:nvSpPr>
        <p:spPr>
          <a:xfrm>
            <a:off x="1625567" y="2933700"/>
            <a:ext cx="5039725" cy="5195910"/>
          </a:xfrm>
          <a:prstGeom prst="rect">
            <a:avLst/>
          </a:prstGeom>
        </p:spPr>
        <p:txBody>
          <a:bodyPr wrap="square" lIns="0" tIns="0" rIns="0" bIns="0" rtlCol="0" anchor="t">
            <a:spAutoFit/>
          </a:bodyPr>
          <a:lstStyle/>
          <a:p>
            <a:pPr algn="l">
              <a:lnSpc>
                <a:spcPts val="4078"/>
              </a:lnSpc>
            </a:pPr>
            <a:r>
              <a:rPr lang="en-US" sz="3600" b="1" dirty="0">
                <a:solidFill>
                  <a:srgbClr val="804F3B"/>
                </a:solidFill>
                <a:latin typeface="Raleway Bold"/>
                <a:ea typeface="Raleway Bold"/>
                <a:cs typeface="Raleway Bold"/>
                <a:sym typeface="Raleway Bold"/>
              </a:rPr>
              <a:t>Modules Used</a:t>
            </a:r>
          </a:p>
          <a:p>
            <a:pPr marL="457200" indent="-457200" algn="l">
              <a:lnSpc>
                <a:spcPts val="4078"/>
              </a:lnSpc>
              <a:buFont typeface="Wingdings" panose="05000000000000000000" pitchFamily="2" charset="2"/>
              <a:buChar char="§"/>
            </a:pPr>
            <a:endParaRPr lang="en-US" sz="2265" b="1" dirty="0">
              <a:solidFill>
                <a:srgbClr val="804F3B"/>
              </a:solidFill>
              <a:latin typeface="Raleway Bold"/>
              <a:ea typeface="Raleway Bold"/>
              <a:cs typeface="Raleway Bold"/>
              <a:sym typeface="Raleway Bold"/>
            </a:endParaRPr>
          </a:p>
          <a:p>
            <a:pPr marL="457200" indent="-457200" algn="l">
              <a:lnSpc>
                <a:spcPts val="4078"/>
              </a:lnSpc>
              <a:buFont typeface="Wingdings" panose="05000000000000000000" pitchFamily="2" charset="2"/>
              <a:buChar char="§"/>
            </a:pPr>
            <a:r>
              <a:rPr lang="en-US" sz="2265" b="1" dirty="0">
                <a:solidFill>
                  <a:srgbClr val="804F3B"/>
                </a:solidFill>
                <a:latin typeface="Raleway Bold"/>
                <a:ea typeface="Raleway Bold"/>
                <a:cs typeface="Raleway Bold"/>
                <a:sym typeface="Raleway Bold"/>
              </a:rPr>
              <a:t>Flask</a:t>
            </a:r>
          </a:p>
          <a:p>
            <a:pPr marL="457200" indent="-457200" algn="l">
              <a:lnSpc>
                <a:spcPts val="4078"/>
              </a:lnSpc>
              <a:buFont typeface="Wingdings" panose="05000000000000000000" pitchFamily="2" charset="2"/>
              <a:buChar char="§"/>
            </a:pPr>
            <a:r>
              <a:rPr lang="en-US" sz="2265" b="1" dirty="0" err="1">
                <a:solidFill>
                  <a:srgbClr val="804F3B"/>
                </a:solidFill>
                <a:latin typeface="Raleway Bold"/>
                <a:ea typeface="Raleway Bold"/>
                <a:cs typeface="Raleway Bold"/>
                <a:sym typeface="Raleway Bold"/>
              </a:rPr>
              <a:t>yt_dlp</a:t>
            </a:r>
            <a:endParaRPr lang="en-US" sz="2265" b="1" dirty="0">
              <a:solidFill>
                <a:srgbClr val="804F3B"/>
              </a:solidFill>
              <a:latin typeface="Raleway Bold"/>
              <a:ea typeface="Raleway Bold"/>
              <a:cs typeface="Raleway Bold"/>
              <a:sym typeface="Raleway Bold"/>
            </a:endParaRPr>
          </a:p>
          <a:p>
            <a:pPr marL="457200" indent="-457200" algn="l">
              <a:lnSpc>
                <a:spcPts val="4078"/>
              </a:lnSpc>
              <a:buFont typeface="Wingdings" panose="05000000000000000000" pitchFamily="2" charset="2"/>
              <a:buChar char="§"/>
            </a:pPr>
            <a:r>
              <a:rPr lang="en-US" sz="2265" b="1" dirty="0" err="1">
                <a:solidFill>
                  <a:srgbClr val="804F3B"/>
                </a:solidFill>
                <a:latin typeface="Raleway Bold"/>
                <a:ea typeface="Raleway Bold"/>
                <a:cs typeface="Raleway Bold"/>
                <a:sym typeface="Raleway Bold"/>
              </a:rPr>
              <a:t>youtube_transcript_api</a:t>
            </a:r>
            <a:endParaRPr lang="en-US" sz="2265" b="1" dirty="0">
              <a:solidFill>
                <a:srgbClr val="804F3B"/>
              </a:solidFill>
              <a:latin typeface="Raleway Bold"/>
              <a:ea typeface="Raleway Bold"/>
              <a:cs typeface="Raleway Bold"/>
              <a:sym typeface="Raleway Bold"/>
            </a:endParaRPr>
          </a:p>
          <a:p>
            <a:pPr marL="457200" indent="-457200" algn="l">
              <a:lnSpc>
                <a:spcPts val="4078"/>
              </a:lnSpc>
              <a:buFont typeface="Wingdings" panose="05000000000000000000" pitchFamily="2" charset="2"/>
              <a:buChar char="§"/>
            </a:pPr>
            <a:r>
              <a:rPr lang="en-US" sz="2265" b="1" dirty="0">
                <a:solidFill>
                  <a:srgbClr val="804F3B"/>
                </a:solidFill>
                <a:latin typeface="Raleway Bold"/>
                <a:ea typeface="Raleway Bold"/>
                <a:cs typeface="Raleway Bold"/>
                <a:sym typeface="Raleway Bold"/>
              </a:rPr>
              <a:t>transformers</a:t>
            </a:r>
          </a:p>
          <a:p>
            <a:pPr marL="457200" indent="-457200" algn="l">
              <a:lnSpc>
                <a:spcPts val="4078"/>
              </a:lnSpc>
              <a:buFont typeface="Wingdings" panose="05000000000000000000" pitchFamily="2" charset="2"/>
              <a:buChar char="§"/>
            </a:pPr>
            <a:r>
              <a:rPr lang="en-US" sz="2265" b="1" dirty="0">
                <a:solidFill>
                  <a:srgbClr val="804F3B"/>
                </a:solidFill>
                <a:latin typeface="Raleway Bold"/>
                <a:ea typeface="Raleway Bold"/>
                <a:cs typeface="Raleway Bold"/>
                <a:sym typeface="Raleway Bold"/>
              </a:rPr>
              <a:t>torch</a:t>
            </a:r>
          </a:p>
          <a:p>
            <a:pPr marL="457200" indent="-457200" algn="l">
              <a:lnSpc>
                <a:spcPts val="4078"/>
              </a:lnSpc>
              <a:buFont typeface="Wingdings" panose="05000000000000000000" pitchFamily="2" charset="2"/>
              <a:buChar char="§"/>
            </a:pPr>
            <a:r>
              <a:rPr lang="en-US" sz="2265" b="1" dirty="0">
                <a:solidFill>
                  <a:srgbClr val="804F3B"/>
                </a:solidFill>
                <a:latin typeface="Raleway Bold"/>
                <a:ea typeface="Raleway Bold"/>
                <a:cs typeface="Raleway Bold"/>
                <a:sym typeface="Raleway Bold"/>
              </a:rPr>
              <a:t>requests</a:t>
            </a:r>
          </a:p>
          <a:p>
            <a:pPr marL="457200" indent="-457200" algn="l">
              <a:lnSpc>
                <a:spcPts val="4078"/>
              </a:lnSpc>
              <a:buFont typeface="Wingdings" panose="05000000000000000000" pitchFamily="2" charset="2"/>
              <a:buChar char="§"/>
            </a:pPr>
            <a:r>
              <a:rPr lang="en-US" sz="2265" b="1" dirty="0">
                <a:solidFill>
                  <a:srgbClr val="804F3B"/>
                </a:solidFill>
                <a:latin typeface="Raleway Bold"/>
                <a:ea typeface="Raleway Bold"/>
                <a:cs typeface="Raleway Bold"/>
                <a:sym typeface="Raleway Bold"/>
              </a:rPr>
              <a:t>flask-</a:t>
            </a:r>
            <a:r>
              <a:rPr lang="en-US" sz="2265" b="1" dirty="0" err="1">
                <a:solidFill>
                  <a:srgbClr val="804F3B"/>
                </a:solidFill>
                <a:latin typeface="Raleway Bold"/>
                <a:ea typeface="Raleway Bold"/>
                <a:cs typeface="Raleway Bold"/>
                <a:sym typeface="Raleway Bold"/>
              </a:rPr>
              <a:t>cors</a:t>
            </a:r>
            <a:endParaRPr lang="en-US" sz="2265" b="1" dirty="0">
              <a:solidFill>
                <a:srgbClr val="804F3B"/>
              </a:solidFill>
              <a:latin typeface="Raleway Bold"/>
              <a:ea typeface="Raleway Bold"/>
              <a:cs typeface="Raleway Bold"/>
              <a:sym typeface="Raleway Bold"/>
            </a:endParaRPr>
          </a:p>
          <a:p>
            <a:pPr algn="l">
              <a:lnSpc>
                <a:spcPts val="4079"/>
              </a:lnSpc>
            </a:pPr>
            <a:endParaRPr lang="en-US" sz="2265" b="1" dirty="0">
              <a:solidFill>
                <a:srgbClr val="804F3B"/>
              </a:solidFill>
              <a:latin typeface="Raleway Bold"/>
              <a:ea typeface="Raleway Bold"/>
              <a:cs typeface="Raleway Bold"/>
              <a:sym typeface="Raleway Bold"/>
            </a:endParaRPr>
          </a:p>
        </p:txBody>
      </p:sp>
      <p:sp>
        <p:nvSpPr>
          <p:cNvPr id="10" name="TextBox 10"/>
          <p:cNvSpPr txBox="1"/>
          <p:nvPr/>
        </p:nvSpPr>
        <p:spPr>
          <a:xfrm>
            <a:off x="-1548675" y="903986"/>
            <a:ext cx="7833389" cy="626674"/>
          </a:xfrm>
          <a:prstGeom prst="rect">
            <a:avLst/>
          </a:prstGeom>
        </p:spPr>
        <p:txBody>
          <a:bodyPr lIns="0" tIns="0" rIns="0" bIns="0" rtlCol="0" anchor="t">
            <a:spAutoFit/>
          </a:bodyPr>
          <a:lstStyle/>
          <a:p>
            <a:pPr algn="l">
              <a:lnSpc>
                <a:spcPts val="5287"/>
              </a:lnSpc>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panose="00000500000000000000"/>
                <a:ea typeface="Prata" panose="00000500000000000000"/>
                <a:cs typeface="Prata" panose="00000500000000000000"/>
                <a:sym typeface="Prata" panose="00000500000000000000"/>
              </a:rPr>
              <a:t>2</a:t>
            </a:r>
          </a:p>
        </p:txBody>
      </p:sp>
      <p:grpSp>
        <p:nvGrpSpPr>
          <p:cNvPr id="3" name="Group 3"/>
          <p:cNvGrpSpPr/>
          <p:nvPr/>
        </p:nvGrpSpPr>
        <p:grpSpPr>
          <a:xfrm>
            <a:off x="0" y="0"/>
            <a:ext cx="18288000"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txBody>
            <a:bodyPr/>
            <a:lstStyle/>
            <a:p>
              <a:endParaRPr lang="en-IN" dirty="0"/>
            </a:p>
          </p:txBody>
        </p:sp>
      </p:grpSp>
      <p:sp>
        <p:nvSpPr>
          <p:cNvPr id="5" name="TextBox 5"/>
          <p:cNvSpPr txBox="1"/>
          <p:nvPr/>
        </p:nvSpPr>
        <p:spPr>
          <a:xfrm>
            <a:off x="827675" y="703961"/>
            <a:ext cx="533725"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IX</a:t>
            </a:r>
          </a:p>
        </p:txBody>
      </p:sp>
      <p:sp>
        <p:nvSpPr>
          <p:cNvPr id="6" name="TextBox 6"/>
          <p:cNvSpPr txBox="1"/>
          <p:nvPr/>
        </p:nvSpPr>
        <p:spPr>
          <a:xfrm>
            <a:off x="1625567" y="703961"/>
            <a:ext cx="3449500"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IMPLEMENTATION</a:t>
            </a:r>
          </a:p>
        </p:txBody>
      </p:sp>
      <p:sp>
        <p:nvSpPr>
          <p:cNvPr id="7" name="TextBox 7"/>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11</a:t>
            </a:r>
          </a:p>
        </p:txBody>
      </p:sp>
      <p:sp>
        <p:nvSpPr>
          <p:cNvPr id="8" name="TextBox 8"/>
          <p:cNvSpPr txBox="1"/>
          <p:nvPr/>
        </p:nvSpPr>
        <p:spPr>
          <a:xfrm>
            <a:off x="1094537" y="1926610"/>
            <a:ext cx="5742543" cy="566758"/>
          </a:xfrm>
          <a:prstGeom prst="rect">
            <a:avLst/>
          </a:prstGeom>
        </p:spPr>
        <p:txBody>
          <a:bodyPr lIns="0" tIns="0" rIns="0" bIns="0" rtlCol="0" anchor="t">
            <a:spAutoFit/>
          </a:bodyPr>
          <a:lstStyle/>
          <a:p>
            <a:pPr algn="l">
              <a:lnSpc>
                <a:spcPts val="5040"/>
              </a:lnSpc>
            </a:pPr>
            <a:r>
              <a:rPr lang="en-US" sz="2800" b="1" dirty="0">
                <a:solidFill>
                  <a:srgbClr val="804F3B"/>
                </a:solidFill>
                <a:latin typeface="Raleway Bold"/>
                <a:ea typeface="Raleway Bold"/>
                <a:cs typeface="Raleway Bold"/>
                <a:sym typeface="Raleway Bold"/>
              </a:rPr>
              <a:t>Imported Modules :</a:t>
            </a:r>
          </a:p>
        </p:txBody>
      </p:sp>
      <p:sp>
        <p:nvSpPr>
          <p:cNvPr id="10" name="TextBox 10"/>
          <p:cNvSpPr txBox="1"/>
          <p:nvPr/>
        </p:nvSpPr>
        <p:spPr>
          <a:xfrm>
            <a:off x="-1548675" y="903986"/>
            <a:ext cx="7833389" cy="626674"/>
          </a:xfrm>
          <a:prstGeom prst="rect">
            <a:avLst/>
          </a:prstGeom>
        </p:spPr>
        <p:txBody>
          <a:bodyPr lIns="0" tIns="0" rIns="0" bIns="0" rtlCol="0" anchor="t">
            <a:spAutoFit/>
          </a:bodyPr>
          <a:lstStyle/>
          <a:p>
            <a:pPr algn="l">
              <a:lnSpc>
                <a:spcPts val="5285"/>
              </a:lnSpc>
            </a:pPr>
            <a:endParaRPr/>
          </a:p>
        </p:txBody>
      </p:sp>
      <p:sp>
        <p:nvSpPr>
          <p:cNvPr id="11" name="TextBox 11"/>
          <p:cNvSpPr txBox="1"/>
          <p:nvPr/>
        </p:nvSpPr>
        <p:spPr>
          <a:xfrm>
            <a:off x="1065962" y="2587138"/>
            <a:ext cx="6173038" cy="7128362"/>
          </a:xfrm>
          <a:prstGeom prst="rect">
            <a:avLst/>
          </a:prstGeom>
        </p:spPr>
        <p:txBody>
          <a:bodyPr wrap="square" lIns="0" tIns="0" rIns="0" bIns="0" rtlCol="0" anchor="t">
            <a:spAutoFit/>
          </a:bodyPr>
          <a:lstStyle/>
          <a:p>
            <a:pPr algn="l">
              <a:lnSpc>
                <a:spcPts val="3470"/>
              </a:lnSpc>
            </a:pPr>
            <a:r>
              <a:rPr lang="en-US" sz="1925" b="1" dirty="0">
                <a:solidFill>
                  <a:srgbClr val="804F3B"/>
                </a:solidFill>
                <a:latin typeface="Raleway Bold"/>
                <a:ea typeface="Raleway Bold"/>
                <a:cs typeface="Raleway Bold"/>
                <a:sym typeface="Raleway Bold"/>
              </a:rPr>
              <a:t>from flask import Flask, request, </a:t>
            </a:r>
            <a:r>
              <a:rPr lang="en-US" sz="1925" b="1" dirty="0" err="1">
                <a:solidFill>
                  <a:srgbClr val="804F3B"/>
                </a:solidFill>
                <a:latin typeface="Raleway Bold"/>
                <a:ea typeface="Raleway Bold"/>
                <a:cs typeface="Raleway Bold"/>
                <a:sym typeface="Raleway Bold"/>
              </a:rPr>
              <a:t>jsonify</a:t>
            </a: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send_file</a:t>
            </a:r>
            <a:endParaRPr lang="en-US" sz="1925" b="1" dirty="0">
              <a:solidFill>
                <a:srgbClr val="804F3B"/>
              </a:solidFill>
              <a:latin typeface="Raleway Bold"/>
              <a:ea typeface="Raleway Bold"/>
              <a:cs typeface="Raleway Bold"/>
              <a:sym typeface="Raleway Bold"/>
            </a:endParaRPr>
          </a:p>
          <a:p>
            <a:pPr algn="l">
              <a:lnSpc>
                <a:spcPts val="3470"/>
              </a:lnSpc>
            </a:pPr>
            <a:r>
              <a:rPr lang="en-US" sz="1925" b="1" dirty="0">
                <a:solidFill>
                  <a:srgbClr val="804F3B"/>
                </a:solidFill>
                <a:latin typeface="Raleway Bold"/>
                <a:ea typeface="Raleway Bold"/>
                <a:cs typeface="Raleway Bold"/>
                <a:sym typeface="Raleway Bold"/>
              </a:rPr>
              <a:t>from </a:t>
            </a:r>
            <a:r>
              <a:rPr lang="en-US" sz="1925" b="1" dirty="0" err="1">
                <a:solidFill>
                  <a:srgbClr val="804F3B"/>
                </a:solidFill>
                <a:latin typeface="Raleway Bold"/>
                <a:ea typeface="Raleway Bold"/>
                <a:cs typeface="Raleway Bold"/>
                <a:sym typeface="Raleway Bold"/>
              </a:rPr>
              <a:t>dataclasses</a:t>
            </a:r>
            <a:r>
              <a:rPr lang="en-US" sz="1925" b="1" dirty="0">
                <a:solidFill>
                  <a:srgbClr val="804F3B"/>
                </a:solidFill>
                <a:latin typeface="Raleway Bold"/>
                <a:ea typeface="Raleway Bold"/>
                <a:cs typeface="Raleway Bold"/>
                <a:sym typeface="Raleway Bold"/>
              </a:rPr>
              <a:t> import </a:t>
            </a:r>
            <a:r>
              <a:rPr lang="en-US" sz="1925" b="1" dirty="0" err="1">
                <a:solidFill>
                  <a:srgbClr val="804F3B"/>
                </a:solidFill>
                <a:latin typeface="Raleway Bold"/>
                <a:ea typeface="Raleway Bold"/>
                <a:cs typeface="Raleway Bold"/>
                <a:sym typeface="Raleway Bold"/>
              </a:rPr>
              <a:t>dataclass</a:t>
            </a:r>
            <a:endParaRPr lang="en-US" sz="1925" b="1" dirty="0">
              <a:solidFill>
                <a:srgbClr val="804F3B"/>
              </a:solidFill>
              <a:latin typeface="Raleway Bold"/>
              <a:ea typeface="Raleway Bold"/>
              <a:cs typeface="Raleway Bold"/>
              <a:sym typeface="Raleway Bold"/>
            </a:endParaRPr>
          </a:p>
          <a:p>
            <a:pPr algn="l">
              <a:lnSpc>
                <a:spcPts val="3470"/>
              </a:lnSpc>
            </a:pPr>
            <a:r>
              <a:rPr lang="en-US" sz="1925" b="1" dirty="0">
                <a:solidFill>
                  <a:srgbClr val="804F3B"/>
                </a:solidFill>
                <a:latin typeface="Raleway Bold"/>
                <a:ea typeface="Raleway Bold"/>
                <a:cs typeface="Raleway Bold"/>
                <a:sym typeface="Raleway Bold"/>
              </a:rPr>
              <a:t>import </a:t>
            </a:r>
            <a:r>
              <a:rPr lang="en-US" sz="1925" b="1" dirty="0" err="1">
                <a:solidFill>
                  <a:srgbClr val="804F3B"/>
                </a:solidFill>
                <a:latin typeface="Raleway Bold"/>
                <a:ea typeface="Raleway Bold"/>
                <a:cs typeface="Raleway Bold"/>
                <a:sym typeface="Raleway Bold"/>
              </a:rPr>
              <a:t>yt_dlp</a:t>
            </a:r>
            <a:endParaRPr lang="en-US" sz="1925" b="1" dirty="0">
              <a:solidFill>
                <a:srgbClr val="804F3B"/>
              </a:solidFill>
              <a:latin typeface="Raleway Bold"/>
              <a:ea typeface="Raleway Bold"/>
              <a:cs typeface="Raleway Bold"/>
              <a:sym typeface="Raleway Bold"/>
            </a:endParaRPr>
          </a:p>
          <a:p>
            <a:pPr algn="l">
              <a:lnSpc>
                <a:spcPts val="3470"/>
              </a:lnSpc>
            </a:pPr>
            <a:r>
              <a:rPr lang="en-US" sz="1925" b="1" dirty="0">
                <a:solidFill>
                  <a:srgbClr val="804F3B"/>
                </a:solidFill>
                <a:latin typeface="Raleway Bold"/>
                <a:ea typeface="Raleway Bold"/>
                <a:cs typeface="Raleway Bold"/>
                <a:sym typeface="Raleway Bold"/>
              </a:rPr>
              <a:t>from </a:t>
            </a:r>
            <a:r>
              <a:rPr lang="en-US" sz="1925" b="1" dirty="0" err="1">
                <a:solidFill>
                  <a:srgbClr val="804F3B"/>
                </a:solidFill>
                <a:latin typeface="Raleway Bold"/>
                <a:ea typeface="Raleway Bold"/>
                <a:cs typeface="Raleway Bold"/>
                <a:sym typeface="Raleway Bold"/>
              </a:rPr>
              <a:t>youtube_transcript_api</a:t>
            </a:r>
            <a:r>
              <a:rPr lang="en-US" sz="1925" b="1" dirty="0">
                <a:solidFill>
                  <a:srgbClr val="804F3B"/>
                </a:solidFill>
                <a:latin typeface="Raleway Bold"/>
                <a:ea typeface="Raleway Bold"/>
                <a:cs typeface="Raleway Bold"/>
                <a:sym typeface="Raleway Bold"/>
              </a:rPr>
              <a:t> import (</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NoTranscriptFound</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TranscriptsDisabled</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YouTubeTranscriptApi</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from transformers import pipeline</a:t>
            </a:r>
          </a:p>
          <a:p>
            <a:pPr algn="l">
              <a:lnSpc>
                <a:spcPts val="3470"/>
              </a:lnSpc>
            </a:pPr>
            <a:r>
              <a:rPr lang="en-US" sz="1925" b="1" dirty="0">
                <a:solidFill>
                  <a:srgbClr val="804F3B"/>
                </a:solidFill>
                <a:latin typeface="Raleway Bold"/>
                <a:ea typeface="Raleway Bold"/>
                <a:cs typeface="Raleway Bold"/>
                <a:sym typeface="Raleway Bold"/>
              </a:rPr>
              <a:t>summarizer = pipeline("summarization", model="</a:t>
            </a:r>
            <a:r>
              <a:rPr lang="en-US" sz="1925" b="1" dirty="0" err="1">
                <a:solidFill>
                  <a:srgbClr val="804F3B"/>
                </a:solidFill>
                <a:latin typeface="Raleway Bold"/>
                <a:ea typeface="Raleway Bold"/>
                <a:cs typeface="Raleway Bold"/>
                <a:sym typeface="Raleway Bold"/>
              </a:rPr>
              <a:t>sshleifer</a:t>
            </a:r>
            <a:r>
              <a:rPr lang="en-US" sz="1925" b="1" dirty="0">
                <a:solidFill>
                  <a:srgbClr val="804F3B"/>
                </a:solidFill>
                <a:latin typeface="Raleway Bold"/>
                <a:ea typeface="Raleway Bold"/>
                <a:cs typeface="Raleway Bold"/>
                <a:sym typeface="Raleway Bold"/>
              </a:rPr>
              <a:t>/distilbart-cnn-12-6")</a:t>
            </a:r>
          </a:p>
          <a:p>
            <a:pPr algn="l">
              <a:lnSpc>
                <a:spcPts val="3470"/>
              </a:lnSpc>
            </a:pPr>
            <a:endParaRPr lang="en-US" sz="1925" b="1" dirty="0">
              <a:solidFill>
                <a:srgbClr val="804F3B"/>
              </a:solidFill>
              <a:latin typeface="Raleway Bold"/>
              <a:ea typeface="Raleway Bold"/>
              <a:cs typeface="Raleway Bold"/>
              <a:sym typeface="Raleway Bold"/>
            </a:endParaRPr>
          </a:p>
          <a:p>
            <a:pPr algn="l">
              <a:lnSpc>
                <a:spcPts val="3470"/>
              </a:lnSpc>
            </a:pPr>
            <a:r>
              <a:rPr lang="en-US" sz="1925" b="1" dirty="0">
                <a:solidFill>
                  <a:srgbClr val="804F3B"/>
                </a:solidFill>
                <a:latin typeface="Raleway Bold"/>
                <a:ea typeface="Raleway Bold"/>
                <a:cs typeface="Raleway Bold"/>
                <a:sym typeface="Raleway Bold"/>
              </a:rPr>
              <a:t>from </a:t>
            </a:r>
            <a:r>
              <a:rPr lang="en-US" sz="1925" b="1" dirty="0" err="1">
                <a:solidFill>
                  <a:srgbClr val="804F3B"/>
                </a:solidFill>
                <a:latin typeface="Raleway Bold"/>
                <a:ea typeface="Raleway Bold"/>
                <a:cs typeface="Raleway Bold"/>
                <a:sym typeface="Raleway Bold"/>
              </a:rPr>
              <a:t>flask_cors</a:t>
            </a:r>
            <a:r>
              <a:rPr lang="en-US" sz="1925" b="1" dirty="0">
                <a:solidFill>
                  <a:srgbClr val="804F3B"/>
                </a:solidFill>
                <a:latin typeface="Raleway Bold"/>
                <a:ea typeface="Raleway Bold"/>
                <a:cs typeface="Raleway Bold"/>
                <a:sym typeface="Raleway Bold"/>
              </a:rPr>
              <a:t> import CORS</a:t>
            </a:r>
          </a:p>
          <a:p>
            <a:pPr algn="l">
              <a:lnSpc>
                <a:spcPts val="3470"/>
              </a:lnSpc>
            </a:pPr>
            <a:r>
              <a:rPr lang="en-US" sz="1925" b="1" dirty="0">
                <a:solidFill>
                  <a:srgbClr val="804F3B"/>
                </a:solidFill>
                <a:latin typeface="Raleway Bold"/>
                <a:ea typeface="Raleway Bold"/>
                <a:cs typeface="Raleway Bold"/>
                <a:sym typeface="Raleway Bold"/>
              </a:rPr>
              <a:t>app = Flask(__name__)</a:t>
            </a:r>
          </a:p>
          <a:p>
            <a:pPr algn="l">
              <a:lnSpc>
                <a:spcPts val="3470"/>
              </a:lnSpc>
            </a:pPr>
            <a:r>
              <a:rPr lang="en-US" sz="1925" b="1" dirty="0">
                <a:solidFill>
                  <a:srgbClr val="804F3B"/>
                </a:solidFill>
                <a:latin typeface="Raleway Bold"/>
                <a:ea typeface="Raleway Bold"/>
                <a:cs typeface="Raleway Bold"/>
                <a:sym typeface="Raleway Bold"/>
              </a:rPr>
              <a:t>CORS(app)</a:t>
            </a:r>
          </a:p>
          <a:p>
            <a:pPr algn="l">
              <a:lnSpc>
                <a:spcPts val="3470"/>
              </a:lnSpc>
            </a:pPr>
            <a:endParaRPr lang="en-US" sz="1925" b="1" dirty="0">
              <a:solidFill>
                <a:srgbClr val="804F3B"/>
              </a:solidFill>
              <a:latin typeface="Raleway Bold"/>
              <a:ea typeface="Raleway Bold"/>
              <a:cs typeface="Raleway Bold"/>
              <a:sym typeface="Raleway Bold"/>
            </a:endParaRPr>
          </a:p>
        </p:txBody>
      </p:sp>
      <p:grpSp>
        <p:nvGrpSpPr>
          <p:cNvPr id="13" name="Group 3"/>
          <p:cNvGrpSpPr/>
          <p:nvPr/>
        </p:nvGrpSpPr>
        <p:grpSpPr>
          <a:xfrm>
            <a:off x="16740784" y="0"/>
            <a:ext cx="1547216" cy="10287000"/>
            <a:chOff x="0" y="0"/>
            <a:chExt cx="2062955" cy="13716000"/>
          </a:xfrm>
        </p:grpSpPr>
        <p:sp>
          <p:nvSpPr>
            <p:cNvPr id="1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2E122-572B-A8C4-2ED7-945079231EC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3B58964-18C8-717E-204A-83722D7C43F2}"/>
              </a:ext>
            </a:extLst>
          </p:cNvPr>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panose="00000500000000000000"/>
                <a:ea typeface="Prata" panose="00000500000000000000"/>
                <a:cs typeface="Prata" panose="00000500000000000000"/>
                <a:sym typeface="Prata" panose="00000500000000000000"/>
              </a:rPr>
              <a:t>2</a:t>
            </a:r>
          </a:p>
        </p:txBody>
      </p:sp>
      <p:grpSp>
        <p:nvGrpSpPr>
          <p:cNvPr id="3" name="Group 3">
            <a:extLst>
              <a:ext uri="{FF2B5EF4-FFF2-40B4-BE49-F238E27FC236}">
                <a16:creationId xmlns:a16="http://schemas.microsoft.com/office/drawing/2014/main" id="{D68A0F09-9EDF-D2D0-9556-D038D5928BA2}"/>
              </a:ext>
            </a:extLst>
          </p:cNvPr>
          <p:cNvGrpSpPr/>
          <p:nvPr/>
        </p:nvGrpSpPr>
        <p:grpSpPr>
          <a:xfrm>
            <a:off x="0" y="0"/>
            <a:ext cx="18288000" cy="10287000"/>
            <a:chOff x="0" y="0"/>
            <a:chExt cx="2062955" cy="13716000"/>
          </a:xfrm>
        </p:grpSpPr>
        <p:sp>
          <p:nvSpPr>
            <p:cNvPr id="4" name="Freeform 4">
              <a:extLst>
                <a:ext uri="{FF2B5EF4-FFF2-40B4-BE49-F238E27FC236}">
                  <a16:creationId xmlns:a16="http://schemas.microsoft.com/office/drawing/2014/main" id="{1DEE0CA3-2E8A-E3FA-E715-703CABCF03A5}"/>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txBody>
            <a:bodyPr/>
            <a:lstStyle/>
            <a:p>
              <a:endParaRPr lang="en-IN" dirty="0"/>
            </a:p>
          </p:txBody>
        </p:sp>
      </p:grpSp>
      <p:sp>
        <p:nvSpPr>
          <p:cNvPr id="5" name="TextBox 5">
            <a:extLst>
              <a:ext uri="{FF2B5EF4-FFF2-40B4-BE49-F238E27FC236}">
                <a16:creationId xmlns:a16="http://schemas.microsoft.com/office/drawing/2014/main" id="{DEC3B079-2659-CCB7-6D72-BC2F7AF74042}"/>
              </a:ext>
            </a:extLst>
          </p:cNvPr>
          <p:cNvSpPr txBox="1"/>
          <p:nvPr/>
        </p:nvSpPr>
        <p:spPr>
          <a:xfrm>
            <a:off x="827675" y="703961"/>
            <a:ext cx="533725"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IX</a:t>
            </a:r>
          </a:p>
        </p:txBody>
      </p:sp>
      <p:sp>
        <p:nvSpPr>
          <p:cNvPr id="6" name="TextBox 6">
            <a:extLst>
              <a:ext uri="{FF2B5EF4-FFF2-40B4-BE49-F238E27FC236}">
                <a16:creationId xmlns:a16="http://schemas.microsoft.com/office/drawing/2014/main" id="{3919B4AD-973E-7752-0BF4-E1745F3656DD}"/>
              </a:ext>
            </a:extLst>
          </p:cNvPr>
          <p:cNvSpPr txBox="1"/>
          <p:nvPr/>
        </p:nvSpPr>
        <p:spPr>
          <a:xfrm>
            <a:off x="1625567" y="703961"/>
            <a:ext cx="3449500"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IMPLEMENTATION</a:t>
            </a:r>
          </a:p>
        </p:txBody>
      </p:sp>
      <p:sp>
        <p:nvSpPr>
          <p:cNvPr id="7" name="TextBox 7">
            <a:extLst>
              <a:ext uri="{FF2B5EF4-FFF2-40B4-BE49-F238E27FC236}">
                <a16:creationId xmlns:a16="http://schemas.microsoft.com/office/drawing/2014/main" id="{10002B8A-6B69-35DF-460E-B7FB6ACD3570}"/>
              </a:ext>
            </a:extLst>
          </p:cNvPr>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11</a:t>
            </a:r>
          </a:p>
        </p:txBody>
      </p:sp>
      <p:sp>
        <p:nvSpPr>
          <p:cNvPr id="8" name="TextBox 8">
            <a:extLst>
              <a:ext uri="{FF2B5EF4-FFF2-40B4-BE49-F238E27FC236}">
                <a16:creationId xmlns:a16="http://schemas.microsoft.com/office/drawing/2014/main" id="{5A7D8D3C-5241-86C7-150D-9E32F45FD154}"/>
              </a:ext>
            </a:extLst>
          </p:cNvPr>
          <p:cNvSpPr txBox="1"/>
          <p:nvPr/>
        </p:nvSpPr>
        <p:spPr>
          <a:xfrm>
            <a:off x="1094537" y="1926610"/>
            <a:ext cx="5742543" cy="566758"/>
          </a:xfrm>
          <a:prstGeom prst="rect">
            <a:avLst/>
          </a:prstGeom>
        </p:spPr>
        <p:txBody>
          <a:bodyPr lIns="0" tIns="0" rIns="0" bIns="0" rtlCol="0" anchor="t">
            <a:spAutoFit/>
          </a:bodyPr>
          <a:lstStyle/>
          <a:p>
            <a:pPr algn="l">
              <a:lnSpc>
                <a:spcPts val="5040"/>
              </a:lnSpc>
            </a:pPr>
            <a:r>
              <a:rPr lang="en-US" sz="2800" b="1" dirty="0">
                <a:solidFill>
                  <a:srgbClr val="804F3B"/>
                </a:solidFill>
                <a:latin typeface="Raleway Bold"/>
                <a:ea typeface="Raleway Bold"/>
                <a:cs typeface="Raleway Bold"/>
                <a:sym typeface="Raleway Bold"/>
              </a:rPr>
              <a:t>Video extraction :</a:t>
            </a:r>
          </a:p>
        </p:txBody>
      </p:sp>
      <p:sp>
        <p:nvSpPr>
          <p:cNvPr id="10" name="TextBox 10">
            <a:extLst>
              <a:ext uri="{FF2B5EF4-FFF2-40B4-BE49-F238E27FC236}">
                <a16:creationId xmlns:a16="http://schemas.microsoft.com/office/drawing/2014/main" id="{0F6E17A1-0846-10E0-203E-9026C568D423}"/>
              </a:ext>
            </a:extLst>
          </p:cNvPr>
          <p:cNvSpPr txBox="1"/>
          <p:nvPr/>
        </p:nvSpPr>
        <p:spPr>
          <a:xfrm>
            <a:off x="-1548675" y="903986"/>
            <a:ext cx="7833389" cy="626674"/>
          </a:xfrm>
          <a:prstGeom prst="rect">
            <a:avLst/>
          </a:prstGeom>
        </p:spPr>
        <p:txBody>
          <a:bodyPr lIns="0" tIns="0" rIns="0" bIns="0" rtlCol="0" anchor="t">
            <a:spAutoFit/>
          </a:bodyPr>
          <a:lstStyle/>
          <a:p>
            <a:pPr algn="l">
              <a:lnSpc>
                <a:spcPts val="5285"/>
              </a:lnSpc>
            </a:pPr>
            <a:endParaRPr/>
          </a:p>
        </p:txBody>
      </p:sp>
      <p:sp>
        <p:nvSpPr>
          <p:cNvPr id="11" name="TextBox 11">
            <a:extLst>
              <a:ext uri="{FF2B5EF4-FFF2-40B4-BE49-F238E27FC236}">
                <a16:creationId xmlns:a16="http://schemas.microsoft.com/office/drawing/2014/main" id="{A848B006-9291-7BFE-047C-644583368962}"/>
              </a:ext>
            </a:extLst>
          </p:cNvPr>
          <p:cNvSpPr txBox="1"/>
          <p:nvPr/>
        </p:nvSpPr>
        <p:spPr>
          <a:xfrm>
            <a:off x="1094537" y="2578614"/>
            <a:ext cx="6173038" cy="5781776"/>
          </a:xfrm>
          <a:prstGeom prst="rect">
            <a:avLst/>
          </a:prstGeom>
        </p:spPr>
        <p:txBody>
          <a:bodyPr wrap="square" lIns="0" tIns="0" rIns="0" bIns="0" rtlCol="0" anchor="t">
            <a:spAutoFit/>
          </a:bodyPr>
          <a:lstStyle/>
          <a:p>
            <a:pPr algn="l">
              <a:lnSpc>
                <a:spcPts val="3470"/>
              </a:lnSpc>
            </a:pPr>
            <a:r>
              <a:rPr lang="en-US" sz="1925" b="1" dirty="0">
                <a:solidFill>
                  <a:srgbClr val="804F3B"/>
                </a:solidFill>
                <a:latin typeface="Raleway Bold"/>
                <a:ea typeface="Raleway Bold"/>
                <a:cs typeface="Raleway Bold"/>
                <a:sym typeface="Raleway Bold"/>
              </a:rPr>
              <a:t>def </a:t>
            </a:r>
            <a:r>
              <a:rPr lang="en-US" sz="1925" b="1" dirty="0" err="1">
                <a:solidFill>
                  <a:srgbClr val="804F3B"/>
                </a:solidFill>
                <a:latin typeface="Raleway Bold"/>
                <a:ea typeface="Raleway Bold"/>
                <a:cs typeface="Raleway Bold"/>
                <a:sym typeface="Raleway Bold"/>
              </a:rPr>
              <a:t>extract_Video_information</a:t>
            </a:r>
            <a:r>
              <a:rPr lang="en-US" sz="1925" b="1" dirty="0">
                <a:solidFill>
                  <a:srgbClr val="804F3B"/>
                </a:solidFill>
                <a:latin typeface="Raleway Bold"/>
                <a:ea typeface="Raleway Bold"/>
                <a:cs typeface="Raleway Bold"/>
                <a:sym typeface="Raleway Bold"/>
              </a:rPr>
              <a:t>(url: str) -</a:t>
            </a:r>
            <a:r>
              <a:rPr lang="en-US" sz="1925" b="1" dirty="0" err="1">
                <a:solidFill>
                  <a:srgbClr val="804F3B"/>
                </a:solidFill>
                <a:latin typeface="Raleway Bold"/>
                <a:ea typeface="Raleway Bold"/>
                <a:cs typeface="Raleway Bold"/>
                <a:sym typeface="Raleway Bold"/>
              </a:rPr>
              <a:t>VideoInfo</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ydl_opts</a:t>
            </a:r>
            <a:r>
              <a:rPr lang="en-US" sz="1925" b="1" dirty="0">
                <a:solidFill>
                  <a:srgbClr val="804F3B"/>
                </a:solidFill>
                <a:latin typeface="Raleway Bold"/>
                <a:ea typeface="Raleway Bold"/>
                <a:cs typeface="Raleway Bold"/>
                <a:sym typeface="Raleway Bold"/>
              </a:rPr>
              <a:t> = {"quiet": True}</a:t>
            </a:r>
          </a:p>
          <a:p>
            <a:pPr algn="l">
              <a:lnSpc>
                <a:spcPts val="3470"/>
              </a:lnSpc>
            </a:pPr>
            <a:r>
              <a:rPr lang="en-US" sz="1925" b="1" dirty="0">
                <a:solidFill>
                  <a:srgbClr val="804F3B"/>
                </a:solidFill>
                <a:latin typeface="Raleway Bold"/>
                <a:ea typeface="Raleway Bold"/>
                <a:cs typeface="Raleway Bold"/>
                <a:sym typeface="Raleway Bold"/>
              </a:rPr>
              <a:t>    with </a:t>
            </a:r>
            <a:r>
              <a:rPr lang="en-US" sz="1925" b="1" dirty="0" err="1">
                <a:solidFill>
                  <a:srgbClr val="804F3B"/>
                </a:solidFill>
                <a:latin typeface="Raleway Bold"/>
                <a:ea typeface="Raleway Bold"/>
                <a:cs typeface="Raleway Bold"/>
                <a:sym typeface="Raleway Bold"/>
              </a:rPr>
              <a:t>yt_dlp.YoutubeDL</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ydl_opts</a:t>
            </a:r>
            <a:r>
              <a:rPr lang="en-US" sz="1925" b="1" dirty="0">
                <a:solidFill>
                  <a:srgbClr val="804F3B"/>
                </a:solidFill>
                <a:latin typeface="Raleway Bold"/>
                <a:ea typeface="Raleway Bold"/>
                <a:cs typeface="Raleway Bold"/>
                <a:sym typeface="Raleway Bold"/>
              </a:rPr>
              <a:t>) as </a:t>
            </a:r>
            <a:r>
              <a:rPr lang="en-US" sz="1925" b="1" dirty="0" err="1">
                <a:solidFill>
                  <a:srgbClr val="804F3B"/>
                </a:solidFill>
                <a:latin typeface="Raleway Bold"/>
                <a:ea typeface="Raleway Bold"/>
                <a:cs typeface="Raleway Bold"/>
                <a:sym typeface="Raleway Bold"/>
              </a:rPr>
              <a:t>ydl</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info_dict</a:t>
            </a:r>
            <a:r>
              <a:rPr lang="en-US" sz="1925" b="1" dirty="0">
                <a:solidFill>
                  <a:srgbClr val="804F3B"/>
                </a:solidFill>
                <a:latin typeface="Raleway Bold"/>
                <a:ea typeface="Raleway Bold"/>
                <a:cs typeface="Raleway Bold"/>
                <a:sym typeface="Raleway Bold"/>
              </a:rPr>
              <a:t> = </a:t>
            </a:r>
            <a:r>
              <a:rPr lang="en-US" sz="1925" b="1" dirty="0" err="1">
                <a:solidFill>
                  <a:srgbClr val="804F3B"/>
                </a:solidFill>
                <a:latin typeface="Raleway Bold"/>
                <a:ea typeface="Raleway Bold"/>
                <a:cs typeface="Raleway Bold"/>
                <a:sym typeface="Raleway Bold"/>
              </a:rPr>
              <a:t>ydl.extract_info</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url</a:t>
            </a:r>
            <a:r>
              <a:rPr lang="en-US" sz="1925" b="1" dirty="0">
                <a:solidFill>
                  <a:srgbClr val="804F3B"/>
                </a:solidFill>
                <a:latin typeface="Raleway Bold"/>
                <a:ea typeface="Raleway Bold"/>
                <a:cs typeface="Raleway Bold"/>
                <a:sym typeface="Raleway Bold"/>
              </a:rPr>
              <a:t>, download=False)</a:t>
            </a:r>
          </a:p>
          <a:p>
            <a:pPr algn="l">
              <a:lnSpc>
                <a:spcPts val="3470"/>
              </a:lnSpc>
            </a:pPr>
            <a:r>
              <a:rPr lang="en-US" sz="1925" b="1" dirty="0">
                <a:solidFill>
                  <a:srgbClr val="804F3B"/>
                </a:solidFill>
                <a:latin typeface="Raleway Bold"/>
                <a:ea typeface="Raleway Bold"/>
                <a:cs typeface="Raleway Bold"/>
                <a:sym typeface="Raleway Bold"/>
              </a:rPr>
              <a:t>        return </a:t>
            </a:r>
            <a:r>
              <a:rPr lang="en-US" sz="1925" b="1" dirty="0" err="1">
                <a:solidFill>
                  <a:srgbClr val="804F3B"/>
                </a:solidFill>
                <a:latin typeface="Raleway Bold"/>
                <a:ea typeface="Raleway Bold"/>
                <a:cs typeface="Raleway Bold"/>
                <a:sym typeface="Raleway Bold"/>
              </a:rPr>
              <a:t>VideoInfo</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id=</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("id"),</a:t>
            </a:r>
          </a:p>
          <a:p>
            <a:pPr algn="l">
              <a:lnSpc>
                <a:spcPts val="3470"/>
              </a:lnSpc>
            </a:pPr>
            <a:r>
              <a:rPr lang="en-US" sz="1925" b="1" dirty="0">
                <a:solidFill>
                  <a:srgbClr val="804F3B"/>
                </a:solidFill>
                <a:latin typeface="Raleway Bold"/>
                <a:ea typeface="Raleway Bold"/>
                <a:cs typeface="Raleway Bold"/>
                <a:sym typeface="Raleway Bold"/>
              </a:rPr>
              <a:t>            title=</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("title"),</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url</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webpage_url</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duration=</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("duration"),</a:t>
            </a:r>
          </a:p>
          <a:p>
            <a:pPr algn="l">
              <a:lnSpc>
                <a:spcPts val="3470"/>
              </a:lnSpc>
            </a:pPr>
            <a:r>
              <a:rPr lang="en-US" sz="1925" b="1" dirty="0">
                <a:solidFill>
                  <a:srgbClr val="804F3B"/>
                </a:solidFill>
                <a:latin typeface="Raleway Bold"/>
                <a:ea typeface="Raleway Bold"/>
                <a:cs typeface="Raleway Bold"/>
                <a:sym typeface="Raleway Bold"/>
              </a:rPr>
              <a:t>            channel=</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("channel"),</a:t>
            </a:r>
          </a:p>
          <a:p>
            <a:pPr algn="l">
              <a:lnSpc>
                <a:spcPts val="3470"/>
              </a:lnSpc>
            </a:pPr>
            <a:r>
              <a:rPr lang="en-US" sz="1925" b="1" dirty="0">
                <a:solidFill>
                  <a:srgbClr val="804F3B"/>
                </a:solidFill>
                <a:latin typeface="Raleway Bold"/>
                <a:ea typeface="Raleway Bold"/>
                <a:cs typeface="Raleway Bold"/>
                <a:sym typeface="Raleway Bold"/>
              </a:rPr>
              <a:t>            </a:t>
            </a:r>
            <a:r>
              <a:rPr lang="en-US" sz="1925" b="1" dirty="0" err="1">
                <a:solidFill>
                  <a:srgbClr val="804F3B"/>
                </a:solidFill>
                <a:latin typeface="Raleway Bold"/>
                <a:ea typeface="Raleway Bold"/>
                <a:cs typeface="Raleway Bold"/>
                <a:sym typeface="Raleway Bold"/>
              </a:rPr>
              <a:t>channel_url</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info_dict.get</a:t>
            </a:r>
            <a:r>
              <a:rPr lang="en-US" sz="1925" b="1" dirty="0">
                <a:solidFill>
                  <a:srgbClr val="804F3B"/>
                </a:solidFill>
                <a:latin typeface="Raleway Bold"/>
                <a:ea typeface="Raleway Bold"/>
                <a:cs typeface="Raleway Bold"/>
                <a:sym typeface="Raleway Bold"/>
              </a:rPr>
              <a:t>("</a:t>
            </a:r>
            <a:r>
              <a:rPr lang="en-US" sz="1925" b="1" dirty="0" err="1">
                <a:solidFill>
                  <a:srgbClr val="804F3B"/>
                </a:solidFill>
                <a:latin typeface="Raleway Bold"/>
                <a:ea typeface="Raleway Bold"/>
                <a:cs typeface="Raleway Bold"/>
                <a:sym typeface="Raleway Bold"/>
              </a:rPr>
              <a:t>channel_url</a:t>
            </a:r>
            <a:r>
              <a:rPr lang="en-US" sz="1925" b="1" dirty="0">
                <a:solidFill>
                  <a:srgbClr val="804F3B"/>
                </a:solidFill>
                <a:latin typeface="Raleway Bold"/>
                <a:ea typeface="Raleway Bold"/>
                <a:cs typeface="Raleway Bold"/>
                <a:sym typeface="Raleway Bold"/>
              </a:rPr>
              <a:t>"),</a:t>
            </a:r>
          </a:p>
          <a:p>
            <a:pPr algn="l">
              <a:lnSpc>
                <a:spcPts val="3470"/>
              </a:lnSpc>
            </a:pPr>
            <a:r>
              <a:rPr lang="en-US" sz="1925" b="1" dirty="0">
                <a:solidFill>
                  <a:srgbClr val="804F3B"/>
                </a:solidFill>
                <a:latin typeface="Raleway Bold"/>
                <a:ea typeface="Raleway Bold"/>
                <a:cs typeface="Raleway Bold"/>
                <a:sym typeface="Raleway Bold"/>
              </a:rPr>
              <a:t>        )</a:t>
            </a:r>
          </a:p>
          <a:p>
            <a:pPr algn="l">
              <a:lnSpc>
                <a:spcPts val="3470"/>
              </a:lnSpc>
            </a:pPr>
            <a:endParaRPr lang="en-US" sz="1925" b="1" dirty="0">
              <a:solidFill>
                <a:srgbClr val="804F3B"/>
              </a:solidFill>
              <a:latin typeface="Raleway Bold"/>
              <a:ea typeface="Raleway Bold"/>
              <a:cs typeface="Raleway Bold"/>
              <a:sym typeface="Raleway Bold"/>
            </a:endParaRPr>
          </a:p>
        </p:txBody>
      </p:sp>
      <p:grpSp>
        <p:nvGrpSpPr>
          <p:cNvPr id="13" name="Group 3">
            <a:extLst>
              <a:ext uri="{FF2B5EF4-FFF2-40B4-BE49-F238E27FC236}">
                <a16:creationId xmlns:a16="http://schemas.microsoft.com/office/drawing/2014/main" id="{D742FBFE-418A-4A79-12AD-928308089997}"/>
              </a:ext>
            </a:extLst>
          </p:cNvPr>
          <p:cNvGrpSpPr/>
          <p:nvPr/>
        </p:nvGrpSpPr>
        <p:grpSpPr>
          <a:xfrm>
            <a:off x="16740784" y="0"/>
            <a:ext cx="1547216" cy="10287000"/>
            <a:chOff x="0" y="0"/>
            <a:chExt cx="2062955" cy="13716000"/>
          </a:xfrm>
        </p:grpSpPr>
        <p:sp>
          <p:nvSpPr>
            <p:cNvPr id="14" name="Freeform 4">
              <a:extLst>
                <a:ext uri="{FF2B5EF4-FFF2-40B4-BE49-F238E27FC236}">
                  <a16:creationId xmlns:a16="http://schemas.microsoft.com/office/drawing/2014/main" id="{1416F6DB-26CB-34D5-923B-FF7E5C461483}"/>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Tree>
    <p:extLst>
      <p:ext uri="{BB962C8B-B14F-4D97-AF65-F5344CB8AC3E}">
        <p14:creationId xmlns:p14="http://schemas.microsoft.com/office/powerpoint/2010/main" val="2699732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99BAA-4B69-F87A-2EFA-96B2A47FA93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19FEC2B-F9C7-85B4-E17B-110A6C94EBE3}"/>
              </a:ext>
            </a:extLst>
          </p:cNvPr>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panose="00000500000000000000"/>
                <a:ea typeface="Prata" panose="00000500000000000000"/>
                <a:cs typeface="Prata" panose="00000500000000000000"/>
                <a:sym typeface="Prata" panose="00000500000000000000"/>
              </a:rPr>
              <a:t>2</a:t>
            </a:r>
          </a:p>
        </p:txBody>
      </p:sp>
      <p:grpSp>
        <p:nvGrpSpPr>
          <p:cNvPr id="3" name="Group 3">
            <a:extLst>
              <a:ext uri="{FF2B5EF4-FFF2-40B4-BE49-F238E27FC236}">
                <a16:creationId xmlns:a16="http://schemas.microsoft.com/office/drawing/2014/main" id="{ABBF1843-F892-BB0C-F0C1-1492A3406D71}"/>
              </a:ext>
            </a:extLst>
          </p:cNvPr>
          <p:cNvGrpSpPr/>
          <p:nvPr/>
        </p:nvGrpSpPr>
        <p:grpSpPr>
          <a:xfrm>
            <a:off x="-92908" y="0"/>
            <a:ext cx="18288000" cy="10287000"/>
            <a:chOff x="0" y="0"/>
            <a:chExt cx="2062955" cy="13716000"/>
          </a:xfrm>
        </p:grpSpPr>
        <p:sp>
          <p:nvSpPr>
            <p:cNvPr id="4" name="Freeform 4">
              <a:extLst>
                <a:ext uri="{FF2B5EF4-FFF2-40B4-BE49-F238E27FC236}">
                  <a16:creationId xmlns:a16="http://schemas.microsoft.com/office/drawing/2014/main" id="{44802AEA-263D-CA74-D294-4277B29C7559}"/>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txBody>
            <a:bodyPr/>
            <a:lstStyle/>
            <a:p>
              <a:endParaRPr lang="en-IN" dirty="0"/>
            </a:p>
          </p:txBody>
        </p:sp>
      </p:grpSp>
      <p:sp>
        <p:nvSpPr>
          <p:cNvPr id="5" name="TextBox 5">
            <a:extLst>
              <a:ext uri="{FF2B5EF4-FFF2-40B4-BE49-F238E27FC236}">
                <a16:creationId xmlns:a16="http://schemas.microsoft.com/office/drawing/2014/main" id="{1255F88A-3B88-0F68-FC9D-162707ECD2AC}"/>
              </a:ext>
            </a:extLst>
          </p:cNvPr>
          <p:cNvSpPr txBox="1"/>
          <p:nvPr/>
        </p:nvSpPr>
        <p:spPr>
          <a:xfrm>
            <a:off x="827675" y="703961"/>
            <a:ext cx="533725"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IX</a:t>
            </a:r>
          </a:p>
        </p:txBody>
      </p:sp>
      <p:sp>
        <p:nvSpPr>
          <p:cNvPr id="6" name="TextBox 6">
            <a:extLst>
              <a:ext uri="{FF2B5EF4-FFF2-40B4-BE49-F238E27FC236}">
                <a16:creationId xmlns:a16="http://schemas.microsoft.com/office/drawing/2014/main" id="{631CB7A8-F60A-2F49-E3EC-35C60F9E2BF2}"/>
              </a:ext>
            </a:extLst>
          </p:cNvPr>
          <p:cNvSpPr txBox="1"/>
          <p:nvPr/>
        </p:nvSpPr>
        <p:spPr>
          <a:xfrm>
            <a:off x="1625567" y="703961"/>
            <a:ext cx="3449500"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IMPLEMENTATION</a:t>
            </a:r>
          </a:p>
        </p:txBody>
      </p:sp>
      <p:sp>
        <p:nvSpPr>
          <p:cNvPr id="7" name="TextBox 7">
            <a:extLst>
              <a:ext uri="{FF2B5EF4-FFF2-40B4-BE49-F238E27FC236}">
                <a16:creationId xmlns:a16="http://schemas.microsoft.com/office/drawing/2014/main" id="{31EF4364-F848-E92A-7CCC-F09B2A0376B9}"/>
              </a:ext>
            </a:extLst>
          </p:cNvPr>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11</a:t>
            </a:r>
          </a:p>
        </p:txBody>
      </p:sp>
      <p:sp>
        <p:nvSpPr>
          <p:cNvPr id="10" name="TextBox 10">
            <a:extLst>
              <a:ext uri="{FF2B5EF4-FFF2-40B4-BE49-F238E27FC236}">
                <a16:creationId xmlns:a16="http://schemas.microsoft.com/office/drawing/2014/main" id="{68235E9B-6477-9BE5-96C2-6104902B3806}"/>
              </a:ext>
            </a:extLst>
          </p:cNvPr>
          <p:cNvSpPr txBox="1"/>
          <p:nvPr/>
        </p:nvSpPr>
        <p:spPr>
          <a:xfrm>
            <a:off x="-1548675" y="903986"/>
            <a:ext cx="7833389" cy="626674"/>
          </a:xfrm>
          <a:prstGeom prst="rect">
            <a:avLst/>
          </a:prstGeom>
        </p:spPr>
        <p:txBody>
          <a:bodyPr lIns="0" tIns="0" rIns="0" bIns="0" rtlCol="0" anchor="t">
            <a:spAutoFit/>
          </a:bodyPr>
          <a:lstStyle/>
          <a:p>
            <a:pPr algn="l">
              <a:lnSpc>
                <a:spcPts val="5285"/>
              </a:lnSpc>
            </a:pPr>
            <a:endParaRPr/>
          </a:p>
        </p:txBody>
      </p:sp>
      <p:sp>
        <p:nvSpPr>
          <p:cNvPr id="11" name="TextBox 11">
            <a:extLst>
              <a:ext uri="{FF2B5EF4-FFF2-40B4-BE49-F238E27FC236}">
                <a16:creationId xmlns:a16="http://schemas.microsoft.com/office/drawing/2014/main" id="{63D00E64-7706-0A8E-8BA1-23ED6BC92E17}"/>
              </a:ext>
            </a:extLst>
          </p:cNvPr>
          <p:cNvSpPr txBox="1"/>
          <p:nvPr/>
        </p:nvSpPr>
        <p:spPr>
          <a:xfrm>
            <a:off x="827675" y="1812179"/>
            <a:ext cx="7833389" cy="897682"/>
          </a:xfrm>
          <a:prstGeom prst="rect">
            <a:avLst/>
          </a:prstGeom>
        </p:spPr>
        <p:txBody>
          <a:bodyPr wrap="square" lIns="0" tIns="0" rIns="0" bIns="0" rtlCol="0" anchor="t">
            <a:spAutoFit/>
          </a:bodyPr>
          <a:lstStyle/>
          <a:p>
            <a:pPr algn="l">
              <a:lnSpc>
                <a:spcPts val="3470"/>
              </a:lnSpc>
            </a:pPr>
            <a:r>
              <a:rPr lang="en-US" sz="3200" b="1" dirty="0">
                <a:solidFill>
                  <a:srgbClr val="804F3B"/>
                </a:solidFill>
                <a:latin typeface="Raleway Bold"/>
                <a:ea typeface="Raleway Bold"/>
                <a:cs typeface="Raleway Bold"/>
                <a:sym typeface="Raleway Bold"/>
              </a:rPr>
              <a:t>Transcript Code:</a:t>
            </a:r>
          </a:p>
          <a:p>
            <a:pPr algn="l">
              <a:lnSpc>
                <a:spcPts val="3470"/>
              </a:lnSpc>
            </a:pPr>
            <a:endParaRPr lang="en-US" sz="3200" b="1" dirty="0">
              <a:solidFill>
                <a:srgbClr val="804F3B"/>
              </a:solidFill>
              <a:latin typeface="Raleway Bold"/>
              <a:ea typeface="Raleway Bold"/>
              <a:cs typeface="Raleway Bold"/>
              <a:sym typeface="Raleway Bold"/>
            </a:endParaRPr>
          </a:p>
        </p:txBody>
      </p:sp>
      <p:grpSp>
        <p:nvGrpSpPr>
          <p:cNvPr id="13" name="Group 3">
            <a:extLst>
              <a:ext uri="{FF2B5EF4-FFF2-40B4-BE49-F238E27FC236}">
                <a16:creationId xmlns:a16="http://schemas.microsoft.com/office/drawing/2014/main" id="{C5E34A33-67FF-CE1A-3E64-B1AAE11498E1}"/>
              </a:ext>
            </a:extLst>
          </p:cNvPr>
          <p:cNvGrpSpPr/>
          <p:nvPr/>
        </p:nvGrpSpPr>
        <p:grpSpPr>
          <a:xfrm>
            <a:off x="16740784" y="0"/>
            <a:ext cx="1547216" cy="10287000"/>
            <a:chOff x="0" y="0"/>
            <a:chExt cx="2062955" cy="13716000"/>
          </a:xfrm>
        </p:grpSpPr>
        <p:sp>
          <p:nvSpPr>
            <p:cNvPr id="14" name="Freeform 4">
              <a:extLst>
                <a:ext uri="{FF2B5EF4-FFF2-40B4-BE49-F238E27FC236}">
                  <a16:creationId xmlns:a16="http://schemas.microsoft.com/office/drawing/2014/main" id="{F98A973E-6998-B4DB-A26B-3AEF5191CD41}"/>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17" name="TextBox 16">
            <a:extLst>
              <a:ext uri="{FF2B5EF4-FFF2-40B4-BE49-F238E27FC236}">
                <a16:creationId xmlns:a16="http://schemas.microsoft.com/office/drawing/2014/main" id="{8984DE60-8A85-94B4-5D80-3FC9B3456F85}"/>
              </a:ext>
            </a:extLst>
          </p:cNvPr>
          <p:cNvSpPr txBox="1"/>
          <p:nvPr/>
        </p:nvSpPr>
        <p:spPr>
          <a:xfrm>
            <a:off x="9051238" y="2705100"/>
            <a:ext cx="8698447" cy="2283767"/>
          </a:xfrm>
          <a:prstGeom prst="rect">
            <a:avLst/>
          </a:prstGeom>
          <a:noFill/>
        </p:spPr>
        <p:txBody>
          <a:bodyPr wrap="square">
            <a:spAutoFit/>
          </a:bodyPr>
          <a:lstStyle/>
          <a:p>
            <a:pPr algn="l">
              <a:lnSpc>
                <a:spcPts val="3470"/>
              </a:lnSpc>
            </a:pPr>
            <a:r>
              <a:rPr lang="en-US" b="1" dirty="0">
                <a:solidFill>
                  <a:srgbClr val="804F3B"/>
                </a:solidFill>
                <a:latin typeface="Raleway Bold"/>
                <a:ea typeface="Raleway Bold"/>
                <a:cs typeface="Raleway Bold"/>
                <a:sym typeface="Raleway Bold"/>
              </a:rPr>
              <a:t> if not subtitles:</a:t>
            </a:r>
          </a:p>
          <a:p>
            <a:pPr algn="l">
              <a:lnSpc>
                <a:spcPts val="3470"/>
              </a:lnSpc>
            </a:pPr>
            <a:r>
              <a:rPr lang="en-US" b="1" dirty="0">
                <a:solidFill>
                  <a:srgbClr val="804F3B"/>
                </a:solidFill>
                <a:latin typeface="Raleway Bold"/>
                <a:ea typeface="Raleway Bold"/>
                <a:cs typeface="Raleway Bold"/>
                <a:sym typeface="Raleway Bold"/>
              </a:rPr>
              <a:t>        return "Failed to fetch transcript data or transcript data is empty.“</a:t>
            </a:r>
          </a:p>
          <a:p>
            <a:pPr algn="l">
              <a:lnSpc>
                <a:spcPts val="3470"/>
              </a:lnSpc>
            </a:pPr>
            <a:r>
              <a:rPr lang="en-US" b="1" dirty="0">
                <a:solidFill>
                  <a:srgbClr val="804F3B"/>
                </a:solidFill>
                <a:latin typeface="Raleway Bold"/>
                <a:ea typeface="Raleway Bold"/>
                <a:cs typeface="Raleway Bold"/>
                <a:sym typeface="Raleway Bold"/>
              </a:rPr>
              <a:t>    lines = [</a:t>
            </a:r>
            <a:r>
              <a:rPr lang="en-US" b="1" dirty="0" err="1">
                <a:solidFill>
                  <a:srgbClr val="804F3B"/>
                </a:solidFill>
                <a:latin typeface="Raleway Bold"/>
                <a:ea typeface="Raleway Bold"/>
                <a:cs typeface="Raleway Bold"/>
                <a:sym typeface="Raleway Bold"/>
              </a:rPr>
              <a:t>sbt.text</a:t>
            </a:r>
            <a:r>
              <a:rPr lang="en-US" b="1" dirty="0">
                <a:solidFill>
                  <a:srgbClr val="804F3B"/>
                </a:solidFill>
                <a:latin typeface="Raleway Bold"/>
                <a:ea typeface="Raleway Bold"/>
                <a:cs typeface="Raleway Bold"/>
                <a:sym typeface="Raleway Bold"/>
              </a:rPr>
              <a:t> for </a:t>
            </a:r>
            <a:r>
              <a:rPr lang="en-US" b="1" dirty="0" err="1">
                <a:solidFill>
                  <a:srgbClr val="804F3B"/>
                </a:solidFill>
                <a:latin typeface="Raleway Bold"/>
                <a:ea typeface="Raleway Bold"/>
                <a:cs typeface="Raleway Bold"/>
                <a:sym typeface="Raleway Bold"/>
              </a:rPr>
              <a:t>sbt</a:t>
            </a:r>
            <a:r>
              <a:rPr lang="en-US" b="1" dirty="0">
                <a:solidFill>
                  <a:srgbClr val="804F3B"/>
                </a:solidFill>
                <a:latin typeface="Raleway Bold"/>
                <a:ea typeface="Raleway Bold"/>
                <a:cs typeface="Raleway Bold"/>
                <a:sym typeface="Raleway Bold"/>
              </a:rPr>
              <a:t> in subtitles if </a:t>
            </a:r>
            <a:r>
              <a:rPr lang="en-US" b="1" dirty="0" err="1">
                <a:solidFill>
                  <a:srgbClr val="804F3B"/>
                </a:solidFill>
                <a:latin typeface="Raleway Bold"/>
                <a:ea typeface="Raleway Bold"/>
                <a:cs typeface="Raleway Bold"/>
                <a:sym typeface="Raleway Bold"/>
              </a:rPr>
              <a:t>sbt.text</a:t>
            </a:r>
            <a:r>
              <a:rPr lang="en-US" b="1" dirty="0">
                <a:solidFill>
                  <a:srgbClr val="804F3B"/>
                </a:solidFill>
                <a:latin typeface="Raleway Bold"/>
                <a:ea typeface="Raleway Bold"/>
                <a:cs typeface="Raleway Bold"/>
                <a:sym typeface="Raleway Bold"/>
              </a:rPr>
              <a:t> != "[Music]"]</a:t>
            </a:r>
          </a:p>
          <a:p>
            <a:pPr algn="l">
              <a:lnSpc>
                <a:spcPts val="3470"/>
              </a:lnSpc>
            </a:pPr>
            <a:r>
              <a:rPr lang="en-US" b="1" dirty="0">
                <a:solidFill>
                  <a:srgbClr val="804F3B"/>
                </a:solidFill>
                <a:latin typeface="Raleway Bold"/>
                <a:ea typeface="Raleway Bold"/>
                <a:cs typeface="Raleway Bold"/>
                <a:sym typeface="Raleway Bold"/>
              </a:rPr>
              <a:t>    paragraphs = [" ".join(lines[i:i+4]) for </a:t>
            </a:r>
            <a:r>
              <a:rPr lang="en-US" b="1" dirty="0" err="1">
                <a:solidFill>
                  <a:srgbClr val="804F3B"/>
                </a:solidFill>
                <a:latin typeface="Raleway Bold"/>
                <a:ea typeface="Raleway Bold"/>
                <a:cs typeface="Raleway Bold"/>
                <a:sym typeface="Raleway Bold"/>
              </a:rPr>
              <a:t>i</a:t>
            </a:r>
            <a:r>
              <a:rPr lang="en-US" b="1" dirty="0">
                <a:solidFill>
                  <a:srgbClr val="804F3B"/>
                </a:solidFill>
                <a:latin typeface="Raleway Bold"/>
                <a:ea typeface="Raleway Bold"/>
                <a:cs typeface="Raleway Bold"/>
                <a:sym typeface="Raleway Bold"/>
              </a:rPr>
              <a:t> in range(0, </a:t>
            </a:r>
            <a:r>
              <a:rPr lang="en-US" b="1" dirty="0" err="1">
                <a:solidFill>
                  <a:srgbClr val="804F3B"/>
                </a:solidFill>
                <a:latin typeface="Raleway Bold"/>
                <a:ea typeface="Raleway Bold"/>
                <a:cs typeface="Raleway Bold"/>
                <a:sym typeface="Raleway Bold"/>
              </a:rPr>
              <a:t>len</a:t>
            </a:r>
            <a:r>
              <a:rPr lang="en-US" b="1" dirty="0">
                <a:solidFill>
                  <a:srgbClr val="804F3B"/>
                </a:solidFill>
                <a:latin typeface="Raleway Bold"/>
                <a:ea typeface="Raleway Bold"/>
                <a:cs typeface="Raleway Bold"/>
                <a:sym typeface="Raleway Bold"/>
              </a:rPr>
              <a:t>(lines), 4)]</a:t>
            </a:r>
          </a:p>
          <a:p>
            <a:pPr algn="l">
              <a:lnSpc>
                <a:spcPts val="3470"/>
              </a:lnSpc>
            </a:pPr>
            <a:r>
              <a:rPr lang="en-US" b="1" dirty="0">
                <a:solidFill>
                  <a:srgbClr val="804F3B"/>
                </a:solidFill>
                <a:latin typeface="Raleway Bold"/>
                <a:ea typeface="Raleway Bold"/>
                <a:cs typeface="Raleway Bold"/>
                <a:sym typeface="Raleway Bold"/>
              </a:rPr>
              <a:t>     return “\n ".join(paragraphs)</a:t>
            </a:r>
            <a:endParaRPr lang="en-IN" dirty="0"/>
          </a:p>
        </p:txBody>
      </p:sp>
      <p:sp>
        <p:nvSpPr>
          <p:cNvPr id="19" name="TextBox 18">
            <a:extLst>
              <a:ext uri="{FF2B5EF4-FFF2-40B4-BE49-F238E27FC236}">
                <a16:creationId xmlns:a16="http://schemas.microsoft.com/office/drawing/2014/main" id="{6B84095B-3D1E-70B6-92F2-FC61385C0296}"/>
              </a:ext>
            </a:extLst>
          </p:cNvPr>
          <p:cNvSpPr txBox="1"/>
          <p:nvPr/>
        </p:nvSpPr>
        <p:spPr>
          <a:xfrm>
            <a:off x="827675" y="2596550"/>
            <a:ext cx="9979818" cy="5870261"/>
          </a:xfrm>
          <a:prstGeom prst="rect">
            <a:avLst/>
          </a:prstGeom>
          <a:noFill/>
        </p:spPr>
        <p:txBody>
          <a:bodyPr wrap="square">
            <a:spAutoFit/>
          </a:bodyPr>
          <a:lstStyle/>
          <a:p>
            <a:pPr algn="l">
              <a:lnSpc>
                <a:spcPts val="3470"/>
              </a:lnSpc>
            </a:pPr>
            <a:r>
              <a:rPr lang="en-US" b="1" dirty="0">
                <a:solidFill>
                  <a:srgbClr val="804F3B"/>
                </a:solidFill>
                <a:latin typeface="Raleway Bold"/>
                <a:ea typeface="Raleway Bold"/>
                <a:cs typeface="Raleway Bold"/>
                <a:sym typeface="Raleway Bold"/>
              </a:rPr>
              <a:t>def </a:t>
            </a:r>
            <a:r>
              <a:rPr lang="en-US" b="1" dirty="0" err="1">
                <a:solidFill>
                  <a:srgbClr val="804F3B"/>
                </a:solidFill>
                <a:latin typeface="Raleway Bold"/>
                <a:ea typeface="Raleway Bold"/>
                <a:cs typeface="Raleway Bold"/>
                <a:sym typeface="Raleway Bold"/>
              </a:rPr>
              <a:t>get_transcripts</a:t>
            </a:r>
            <a:r>
              <a:rPr lang="en-US" b="1" dirty="0">
                <a:solidFill>
                  <a:srgbClr val="804F3B"/>
                </a:solidFill>
                <a:latin typeface="Raleway Bold"/>
                <a:ea typeface="Raleway Bold"/>
                <a:cs typeface="Raleway Bold"/>
                <a:sym typeface="Raleway Bold"/>
              </a:rPr>
              <a:t>(</a:t>
            </a:r>
            <a:r>
              <a:rPr lang="en-US" b="1" dirty="0" err="1">
                <a:solidFill>
                  <a:srgbClr val="804F3B"/>
                </a:solidFill>
                <a:latin typeface="Raleway Bold"/>
                <a:ea typeface="Raleway Bold"/>
                <a:cs typeface="Raleway Bold"/>
                <a:sym typeface="Raleway Bold"/>
              </a:rPr>
              <a:t>video_id</a:t>
            </a:r>
            <a:r>
              <a:rPr lang="en-US" b="1" dirty="0">
                <a:solidFill>
                  <a:srgbClr val="804F3B"/>
                </a:solidFill>
                <a:latin typeface="Raleway Bold"/>
                <a:ea typeface="Raleway Bold"/>
                <a:cs typeface="Raleway Bold"/>
                <a:sym typeface="Raleway Bold"/>
              </a:rPr>
              <a:t>: str) -&gt; str:</a:t>
            </a:r>
          </a:p>
          <a:p>
            <a:pPr algn="l">
              <a:lnSpc>
                <a:spcPts val="3470"/>
              </a:lnSpc>
            </a:pPr>
            <a:r>
              <a:rPr lang="en-US" b="1" dirty="0">
                <a:solidFill>
                  <a:srgbClr val="804F3B"/>
                </a:solidFill>
                <a:latin typeface="Raleway Bold"/>
                <a:ea typeface="Raleway Bold"/>
                <a:cs typeface="Raleway Bold"/>
                <a:sym typeface="Raleway Bold"/>
              </a:rPr>
              <a:t>    try:</a:t>
            </a:r>
          </a:p>
          <a:p>
            <a:pPr algn="l">
              <a:lnSpc>
                <a:spcPts val="3470"/>
              </a:lnSpc>
            </a:pPr>
            <a:r>
              <a:rPr lang="en-US" b="1" dirty="0">
                <a:solidFill>
                  <a:srgbClr val="804F3B"/>
                </a:solidFill>
                <a:latin typeface="Raleway Bold"/>
                <a:ea typeface="Raleway Bold"/>
                <a:cs typeface="Raleway Bold"/>
                <a:sym typeface="Raleway Bold"/>
              </a:rPr>
              <a:t>        </a:t>
            </a:r>
            <a:r>
              <a:rPr lang="en-US" b="1" dirty="0" err="1">
                <a:solidFill>
                  <a:srgbClr val="804F3B"/>
                </a:solidFill>
                <a:latin typeface="Raleway Bold"/>
                <a:ea typeface="Raleway Bold"/>
                <a:cs typeface="Raleway Bold"/>
                <a:sym typeface="Raleway Bold"/>
              </a:rPr>
              <a:t>transcript_list</a:t>
            </a:r>
            <a:r>
              <a:rPr lang="en-US" b="1" dirty="0">
                <a:solidFill>
                  <a:srgbClr val="804F3B"/>
                </a:solidFill>
                <a:latin typeface="Raleway Bold"/>
                <a:ea typeface="Raleway Bold"/>
                <a:cs typeface="Raleway Bold"/>
                <a:sym typeface="Raleway Bold"/>
              </a:rPr>
              <a:t> = </a:t>
            </a:r>
            <a:r>
              <a:rPr lang="en-US" b="1" dirty="0" err="1">
                <a:solidFill>
                  <a:srgbClr val="804F3B"/>
                </a:solidFill>
                <a:latin typeface="Raleway Bold"/>
                <a:ea typeface="Raleway Bold"/>
                <a:cs typeface="Raleway Bold"/>
                <a:sym typeface="Raleway Bold"/>
              </a:rPr>
              <a:t>YouTubeTranscriptApi.list_transcripts</a:t>
            </a:r>
            <a:r>
              <a:rPr lang="en-US" b="1" dirty="0">
                <a:solidFill>
                  <a:srgbClr val="804F3B"/>
                </a:solidFill>
                <a:latin typeface="Raleway Bold"/>
                <a:ea typeface="Raleway Bold"/>
                <a:cs typeface="Raleway Bold"/>
                <a:sym typeface="Raleway Bold"/>
              </a:rPr>
              <a:t>(</a:t>
            </a:r>
            <a:r>
              <a:rPr lang="en-US" b="1" dirty="0" err="1">
                <a:solidFill>
                  <a:srgbClr val="804F3B"/>
                </a:solidFill>
                <a:latin typeface="Raleway Bold"/>
                <a:ea typeface="Raleway Bold"/>
                <a:cs typeface="Raleway Bold"/>
                <a:sym typeface="Raleway Bold"/>
              </a:rPr>
              <a:t>video_id</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except </a:t>
            </a:r>
            <a:r>
              <a:rPr lang="en-US" b="1" dirty="0" err="1">
                <a:solidFill>
                  <a:srgbClr val="804F3B"/>
                </a:solidFill>
                <a:latin typeface="Raleway Bold"/>
                <a:ea typeface="Raleway Bold"/>
                <a:cs typeface="Raleway Bold"/>
                <a:sym typeface="Raleway Bold"/>
              </a:rPr>
              <a:t>TranscriptsDisabled</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return "Transcripts are disabled for this video."</a:t>
            </a:r>
          </a:p>
          <a:p>
            <a:pPr algn="l">
              <a:lnSpc>
                <a:spcPts val="3470"/>
              </a:lnSpc>
            </a:pPr>
            <a:r>
              <a:rPr lang="en-US" b="1" dirty="0">
                <a:solidFill>
                  <a:srgbClr val="804F3B"/>
                </a:solidFill>
                <a:latin typeface="Raleway Bold"/>
                <a:ea typeface="Raleway Bold"/>
                <a:cs typeface="Raleway Bold"/>
                <a:sym typeface="Raleway Bold"/>
              </a:rPr>
              <a:t>   try:</a:t>
            </a:r>
          </a:p>
          <a:p>
            <a:pPr algn="l">
              <a:lnSpc>
                <a:spcPts val="3470"/>
              </a:lnSpc>
            </a:pPr>
            <a:r>
              <a:rPr lang="en-US" b="1" dirty="0">
                <a:solidFill>
                  <a:srgbClr val="804F3B"/>
                </a:solidFill>
                <a:latin typeface="Raleway Bold"/>
                <a:ea typeface="Raleway Bold"/>
                <a:cs typeface="Raleway Bold"/>
                <a:sym typeface="Raleway Bold"/>
              </a:rPr>
              <a:t>        transcript = </a:t>
            </a:r>
            <a:r>
              <a:rPr lang="en-US" b="1" dirty="0" err="1">
                <a:solidFill>
                  <a:srgbClr val="804F3B"/>
                </a:solidFill>
                <a:latin typeface="Raleway Bold"/>
                <a:ea typeface="Raleway Bold"/>
                <a:cs typeface="Raleway Bold"/>
                <a:sym typeface="Raleway Bold"/>
              </a:rPr>
              <a:t>transcript_list.find_manually_created_transcript</a:t>
            </a:r>
            <a:r>
              <a:rPr lang="en-US" b="1" dirty="0">
                <a:solidFill>
                  <a:srgbClr val="804F3B"/>
                </a:solidFill>
                <a:latin typeface="Raleway Bold"/>
                <a:ea typeface="Raleway Bold"/>
                <a:cs typeface="Raleway Bold"/>
                <a:sym typeface="Raleway Bold"/>
              </a:rPr>
              <a:t>(["</a:t>
            </a:r>
            <a:r>
              <a:rPr lang="en-US" b="1" dirty="0" err="1">
                <a:solidFill>
                  <a:srgbClr val="804F3B"/>
                </a:solidFill>
                <a:latin typeface="Raleway Bold"/>
                <a:ea typeface="Raleway Bold"/>
                <a:cs typeface="Raleway Bold"/>
                <a:sym typeface="Raleway Bold"/>
              </a:rPr>
              <a:t>en</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except </a:t>
            </a:r>
            <a:r>
              <a:rPr lang="en-US" b="1" dirty="0" err="1">
                <a:solidFill>
                  <a:srgbClr val="804F3B"/>
                </a:solidFill>
                <a:latin typeface="Raleway Bold"/>
                <a:ea typeface="Raleway Bold"/>
                <a:cs typeface="Raleway Bold"/>
                <a:sym typeface="Raleway Bold"/>
              </a:rPr>
              <a:t>NoTranscriptFound</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try:</a:t>
            </a:r>
          </a:p>
          <a:p>
            <a:pPr algn="l">
              <a:lnSpc>
                <a:spcPts val="3470"/>
              </a:lnSpc>
            </a:pPr>
            <a:r>
              <a:rPr lang="en-US" b="1" dirty="0">
                <a:solidFill>
                  <a:srgbClr val="804F3B"/>
                </a:solidFill>
                <a:latin typeface="Raleway Bold"/>
                <a:ea typeface="Raleway Bold"/>
                <a:cs typeface="Raleway Bold"/>
                <a:sym typeface="Raleway Bold"/>
              </a:rPr>
              <a:t>            transcript = </a:t>
            </a:r>
            <a:r>
              <a:rPr lang="en-US" b="1" dirty="0" err="1">
                <a:solidFill>
                  <a:srgbClr val="804F3B"/>
                </a:solidFill>
                <a:latin typeface="Raleway Bold"/>
                <a:ea typeface="Raleway Bold"/>
                <a:cs typeface="Raleway Bold"/>
                <a:sym typeface="Raleway Bold"/>
              </a:rPr>
              <a:t>transcript_list.find_generated_transcript</a:t>
            </a:r>
            <a:r>
              <a:rPr lang="en-US" b="1" dirty="0">
                <a:solidFill>
                  <a:srgbClr val="804F3B"/>
                </a:solidFill>
                <a:latin typeface="Raleway Bold"/>
                <a:ea typeface="Raleway Bold"/>
                <a:cs typeface="Raleway Bold"/>
                <a:sym typeface="Raleway Bold"/>
              </a:rPr>
              <a:t>(["</a:t>
            </a:r>
            <a:r>
              <a:rPr lang="en-US" b="1" dirty="0" err="1">
                <a:solidFill>
                  <a:srgbClr val="804F3B"/>
                </a:solidFill>
                <a:latin typeface="Raleway Bold"/>
                <a:ea typeface="Raleway Bold"/>
                <a:cs typeface="Raleway Bold"/>
                <a:sym typeface="Raleway Bold"/>
              </a:rPr>
              <a:t>en</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except </a:t>
            </a:r>
            <a:r>
              <a:rPr lang="en-US" b="1" dirty="0" err="1">
                <a:solidFill>
                  <a:srgbClr val="804F3B"/>
                </a:solidFill>
                <a:latin typeface="Raleway Bold"/>
                <a:ea typeface="Raleway Bold"/>
                <a:cs typeface="Raleway Bold"/>
                <a:sym typeface="Raleway Bold"/>
              </a:rPr>
              <a:t>NoTranscriptFound</a:t>
            </a:r>
            <a:r>
              <a:rPr lang="en-US" b="1" dirty="0">
                <a:solidFill>
                  <a:srgbClr val="804F3B"/>
                </a:solidFill>
                <a:latin typeface="Raleway Bold"/>
                <a:ea typeface="Raleway Bold"/>
                <a:cs typeface="Raleway Bold"/>
                <a:sym typeface="Raleway Bold"/>
              </a:rPr>
              <a:t>:</a:t>
            </a:r>
          </a:p>
          <a:p>
            <a:pPr algn="l">
              <a:lnSpc>
                <a:spcPts val="3470"/>
              </a:lnSpc>
            </a:pPr>
            <a:r>
              <a:rPr lang="en-US" b="1" dirty="0">
                <a:solidFill>
                  <a:srgbClr val="804F3B"/>
                </a:solidFill>
                <a:latin typeface="Raleway Bold"/>
                <a:ea typeface="Raleway Bold"/>
                <a:cs typeface="Raleway Bold"/>
                <a:sym typeface="Raleway Bold"/>
              </a:rPr>
              <a:t>            return "No English transcript available for this video."</a:t>
            </a:r>
          </a:p>
          <a:p>
            <a:pPr algn="l">
              <a:lnSpc>
                <a:spcPts val="3470"/>
              </a:lnSpc>
            </a:pPr>
            <a:r>
              <a:rPr lang="en-US" b="1" dirty="0">
                <a:solidFill>
                  <a:srgbClr val="804F3B"/>
                </a:solidFill>
                <a:latin typeface="Raleway Bold"/>
                <a:ea typeface="Raleway Bold"/>
                <a:cs typeface="Raleway Bold"/>
                <a:sym typeface="Raleway Bold"/>
              </a:rPr>
              <a:t>   subtitles = </a:t>
            </a:r>
            <a:r>
              <a:rPr lang="en-US" b="1" dirty="0" err="1">
                <a:solidFill>
                  <a:srgbClr val="804F3B"/>
                </a:solidFill>
                <a:latin typeface="Raleway Bold"/>
                <a:ea typeface="Raleway Bold"/>
                <a:cs typeface="Raleway Bold"/>
                <a:sym typeface="Raleway Bold"/>
              </a:rPr>
              <a:t>transcript.fetch</a:t>
            </a:r>
            <a:r>
              <a:rPr lang="en-US" b="1" dirty="0">
                <a:solidFill>
                  <a:srgbClr val="804F3B"/>
                </a:solidFill>
                <a:latin typeface="Raleway Bold"/>
                <a:ea typeface="Raleway Bold"/>
                <a:cs typeface="Raleway Bold"/>
                <a:sym typeface="Raleway Bold"/>
              </a:rPr>
              <a:t>()</a:t>
            </a:r>
          </a:p>
        </p:txBody>
      </p:sp>
    </p:spTree>
    <p:extLst>
      <p:ext uri="{BB962C8B-B14F-4D97-AF65-F5344CB8AC3E}">
        <p14:creationId xmlns:p14="http://schemas.microsoft.com/office/powerpoint/2010/main" val="3877065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E27D-72AD-4876-F305-128D838079F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76BCF69-A77B-BF8E-AB17-91746B863973}"/>
              </a:ext>
            </a:extLst>
          </p:cNvPr>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panose="00000500000000000000"/>
                <a:ea typeface="Prata" panose="00000500000000000000"/>
                <a:cs typeface="Prata" panose="00000500000000000000"/>
                <a:sym typeface="Prata" panose="00000500000000000000"/>
              </a:rPr>
              <a:t>2</a:t>
            </a:r>
          </a:p>
        </p:txBody>
      </p:sp>
      <p:grpSp>
        <p:nvGrpSpPr>
          <p:cNvPr id="3" name="Group 3">
            <a:extLst>
              <a:ext uri="{FF2B5EF4-FFF2-40B4-BE49-F238E27FC236}">
                <a16:creationId xmlns:a16="http://schemas.microsoft.com/office/drawing/2014/main" id="{A33DB32A-9CDE-0B59-AB1D-DB4C347E6CE0}"/>
              </a:ext>
            </a:extLst>
          </p:cNvPr>
          <p:cNvGrpSpPr/>
          <p:nvPr/>
        </p:nvGrpSpPr>
        <p:grpSpPr>
          <a:xfrm>
            <a:off x="0" y="0"/>
            <a:ext cx="18288000" cy="10287000"/>
            <a:chOff x="0" y="0"/>
            <a:chExt cx="2062955" cy="13716000"/>
          </a:xfrm>
        </p:grpSpPr>
        <p:sp>
          <p:nvSpPr>
            <p:cNvPr id="4" name="Freeform 4">
              <a:extLst>
                <a:ext uri="{FF2B5EF4-FFF2-40B4-BE49-F238E27FC236}">
                  <a16:creationId xmlns:a16="http://schemas.microsoft.com/office/drawing/2014/main" id="{A53B3E93-95F2-7CDB-8A34-C60DECE775A7}"/>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txBody>
            <a:bodyPr/>
            <a:lstStyle/>
            <a:p>
              <a:endParaRPr lang="en-IN" dirty="0"/>
            </a:p>
          </p:txBody>
        </p:sp>
      </p:grpSp>
      <p:sp>
        <p:nvSpPr>
          <p:cNvPr id="5" name="TextBox 5">
            <a:extLst>
              <a:ext uri="{FF2B5EF4-FFF2-40B4-BE49-F238E27FC236}">
                <a16:creationId xmlns:a16="http://schemas.microsoft.com/office/drawing/2014/main" id="{01E2B231-6A92-BC26-43CB-829D4C6A258E}"/>
              </a:ext>
            </a:extLst>
          </p:cNvPr>
          <p:cNvSpPr txBox="1"/>
          <p:nvPr/>
        </p:nvSpPr>
        <p:spPr>
          <a:xfrm>
            <a:off x="827675" y="703961"/>
            <a:ext cx="533725"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IX</a:t>
            </a:r>
          </a:p>
        </p:txBody>
      </p:sp>
      <p:sp>
        <p:nvSpPr>
          <p:cNvPr id="6" name="TextBox 6">
            <a:extLst>
              <a:ext uri="{FF2B5EF4-FFF2-40B4-BE49-F238E27FC236}">
                <a16:creationId xmlns:a16="http://schemas.microsoft.com/office/drawing/2014/main" id="{2A07404B-6116-752B-CEF8-AB31C79A45BC}"/>
              </a:ext>
            </a:extLst>
          </p:cNvPr>
          <p:cNvSpPr txBox="1"/>
          <p:nvPr/>
        </p:nvSpPr>
        <p:spPr>
          <a:xfrm>
            <a:off x="1625567" y="703961"/>
            <a:ext cx="3449500" cy="449550"/>
          </a:xfrm>
          <a:prstGeom prst="rect">
            <a:avLst/>
          </a:prstGeom>
        </p:spPr>
        <p:txBody>
          <a:bodyPr lIns="0" tIns="0" rIns="0" bIns="0" rtlCol="0" anchor="t">
            <a:spAutoFit/>
          </a:bodyPr>
          <a:lstStyle/>
          <a:p>
            <a:pPr algn="just">
              <a:lnSpc>
                <a:spcPts val="3510"/>
              </a:lnSpc>
            </a:pPr>
            <a:r>
              <a:rPr lang="en-US" sz="3000" b="1">
                <a:solidFill>
                  <a:srgbClr val="804F3B"/>
                </a:solidFill>
                <a:latin typeface="Raleway Bold"/>
                <a:ea typeface="Raleway Bold"/>
                <a:cs typeface="Raleway Bold"/>
                <a:sym typeface="Raleway Bold"/>
              </a:rPr>
              <a:t>IMPLEMENTATION</a:t>
            </a:r>
          </a:p>
        </p:txBody>
      </p:sp>
      <p:sp>
        <p:nvSpPr>
          <p:cNvPr id="7" name="TextBox 7">
            <a:extLst>
              <a:ext uri="{FF2B5EF4-FFF2-40B4-BE49-F238E27FC236}">
                <a16:creationId xmlns:a16="http://schemas.microsoft.com/office/drawing/2014/main" id="{BB735B0F-1C43-1D11-A915-118182899F73}"/>
              </a:ext>
            </a:extLst>
          </p:cNvPr>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11</a:t>
            </a:r>
          </a:p>
        </p:txBody>
      </p:sp>
      <p:sp>
        <p:nvSpPr>
          <p:cNvPr id="10" name="TextBox 10">
            <a:extLst>
              <a:ext uri="{FF2B5EF4-FFF2-40B4-BE49-F238E27FC236}">
                <a16:creationId xmlns:a16="http://schemas.microsoft.com/office/drawing/2014/main" id="{10CB502C-0473-C237-DB05-C503B3C31BA7}"/>
              </a:ext>
            </a:extLst>
          </p:cNvPr>
          <p:cNvSpPr txBox="1"/>
          <p:nvPr/>
        </p:nvSpPr>
        <p:spPr>
          <a:xfrm>
            <a:off x="-1548675" y="903986"/>
            <a:ext cx="7833389" cy="626674"/>
          </a:xfrm>
          <a:prstGeom prst="rect">
            <a:avLst/>
          </a:prstGeom>
        </p:spPr>
        <p:txBody>
          <a:bodyPr lIns="0" tIns="0" rIns="0" bIns="0" rtlCol="0" anchor="t">
            <a:spAutoFit/>
          </a:bodyPr>
          <a:lstStyle/>
          <a:p>
            <a:pPr algn="l">
              <a:lnSpc>
                <a:spcPts val="5285"/>
              </a:lnSpc>
            </a:pPr>
            <a:endParaRPr/>
          </a:p>
        </p:txBody>
      </p:sp>
      <p:sp>
        <p:nvSpPr>
          <p:cNvPr id="11" name="TextBox 11">
            <a:extLst>
              <a:ext uri="{FF2B5EF4-FFF2-40B4-BE49-F238E27FC236}">
                <a16:creationId xmlns:a16="http://schemas.microsoft.com/office/drawing/2014/main" id="{AC32EF6F-05F4-3859-9F99-ECB4A8712143}"/>
              </a:ext>
            </a:extLst>
          </p:cNvPr>
          <p:cNvSpPr txBox="1"/>
          <p:nvPr/>
        </p:nvSpPr>
        <p:spPr>
          <a:xfrm>
            <a:off x="990600" y="1535422"/>
            <a:ext cx="7523589" cy="8052782"/>
          </a:xfrm>
          <a:prstGeom prst="rect">
            <a:avLst/>
          </a:prstGeom>
        </p:spPr>
        <p:txBody>
          <a:bodyPr wrap="square" lIns="0" tIns="0" rIns="0" bIns="0" rtlCol="0" anchor="t">
            <a:spAutoFit/>
          </a:bodyPr>
          <a:lstStyle/>
          <a:p>
            <a:pPr algn="l">
              <a:lnSpc>
                <a:spcPts val="3470"/>
              </a:lnSpc>
            </a:pPr>
            <a:r>
              <a:rPr lang="en-US" sz="2800" b="1" dirty="0">
                <a:solidFill>
                  <a:srgbClr val="804F3B"/>
                </a:solidFill>
                <a:latin typeface="Raleway Bold"/>
                <a:ea typeface="Raleway Bold"/>
                <a:cs typeface="Raleway Bold"/>
                <a:sym typeface="Raleway Bold"/>
              </a:rPr>
              <a:t>Summarize Code :</a:t>
            </a:r>
          </a:p>
          <a:p>
            <a:pPr algn="l">
              <a:lnSpc>
                <a:spcPts val="3470"/>
              </a:lnSpc>
            </a:pPr>
            <a:endParaRPr lang="en-US" sz="2800" b="1" dirty="0">
              <a:solidFill>
                <a:srgbClr val="804F3B"/>
              </a:solidFill>
              <a:latin typeface="Raleway Bold"/>
              <a:ea typeface="Raleway Bold"/>
              <a:cs typeface="Raleway Bold"/>
              <a:sym typeface="Raleway Bold"/>
            </a:endParaRPr>
          </a:p>
          <a:p>
            <a:pPr algn="l">
              <a:lnSpc>
                <a:spcPts val="3470"/>
              </a:lnSpc>
            </a:pPr>
            <a:r>
              <a:rPr lang="en-US" sz="2000" b="1" dirty="0">
                <a:solidFill>
                  <a:srgbClr val="804F3B"/>
                </a:solidFill>
                <a:latin typeface="Raleway Bold"/>
                <a:ea typeface="Raleway Bold"/>
                <a:cs typeface="Raleway Bold"/>
                <a:sym typeface="Raleway Bold"/>
              </a:rPr>
              <a:t>def </a:t>
            </a:r>
            <a:r>
              <a:rPr lang="en-US" sz="2000" b="1" dirty="0" err="1">
                <a:solidFill>
                  <a:srgbClr val="804F3B"/>
                </a:solidFill>
                <a:latin typeface="Raleway Bold"/>
                <a:ea typeface="Raleway Bold"/>
                <a:cs typeface="Raleway Bold"/>
                <a:sym typeface="Raleway Bold"/>
              </a:rPr>
              <a:t>summarize_text_chunks</a:t>
            </a:r>
            <a:r>
              <a:rPr lang="en-US" sz="2000" b="1" dirty="0">
                <a:solidFill>
                  <a:srgbClr val="804F3B"/>
                </a:solidFill>
                <a:latin typeface="Raleway Bold"/>
                <a:ea typeface="Raleway Bold"/>
                <a:cs typeface="Raleway Bold"/>
                <a:sym typeface="Raleway Bold"/>
              </a:rPr>
              <a:t>(text):</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summarized_text</a:t>
            </a:r>
            <a:r>
              <a:rPr lang="en-US" sz="2000" b="1" dirty="0">
                <a:solidFill>
                  <a:srgbClr val="804F3B"/>
                </a:solidFill>
                <a:latin typeface="Raleway Bold"/>
                <a:ea typeface="Raleway Bold"/>
                <a:cs typeface="Raleway Bold"/>
                <a:sym typeface="Raleway Bold"/>
              </a:rPr>
              <a:t> = []</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num_iters</a:t>
            </a:r>
            <a:r>
              <a:rPr lang="en-US" sz="2000" b="1" dirty="0">
                <a:solidFill>
                  <a:srgbClr val="804F3B"/>
                </a:solidFill>
                <a:latin typeface="Raleway Bold"/>
                <a:ea typeface="Raleway Bold"/>
                <a:cs typeface="Raleway Bold"/>
                <a:sym typeface="Raleway Bold"/>
              </a:rPr>
              <a:t> = int(</a:t>
            </a:r>
            <a:r>
              <a:rPr lang="en-US" sz="2000" b="1" dirty="0" err="1">
                <a:solidFill>
                  <a:srgbClr val="804F3B"/>
                </a:solidFill>
                <a:latin typeface="Raleway Bold"/>
                <a:ea typeface="Raleway Bold"/>
                <a:cs typeface="Raleway Bold"/>
                <a:sym typeface="Raleway Bold"/>
              </a:rPr>
              <a:t>len</a:t>
            </a:r>
            <a:r>
              <a:rPr lang="en-US" sz="2000" b="1" dirty="0">
                <a:solidFill>
                  <a:srgbClr val="804F3B"/>
                </a:solidFill>
                <a:latin typeface="Raleway Bold"/>
                <a:ea typeface="Raleway Bold"/>
                <a:cs typeface="Raleway Bold"/>
                <a:sym typeface="Raleway Bold"/>
              </a:rPr>
              <a:t>(text) / 1000)</a:t>
            </a:r>
          </a:p>
          <a:p>
            <a:pPr algn="l">
              <a:lnSpc>
                <a:spcPts val="3470"/>
              </a:lnSpc>
            </a:pPr>
            <a:r>
              <a:rPr lang="en-US" sz="2000" b="1" dirty="0">
                <a:solidFill>
                  <a:srgbClr val="804F3B"/>
                </a:solidFill>
                <a:latin typeface="Raleway Bold"/>
                <a:ea typeface="Raleway Bold"/>
                <a:cs typeface="Raleway Bold"/>
                <a:sym typeface="Raleway Bold"/>
              </a:rPr>
              <a:t>    print(</a:t>
            </a:r>
            <a:r>
              <a:rPr lang="en-US" sz="2000" b="1" dirty="0" err="1">
                <a:solidFill>
                  <a:srgbClr val="804F3B"/>
                </a:solidFill>
                <a:latin typeface="Raleway Bold"/>
                <a:ea typeface="Raleway Bold"/>
                <a:cs typeface="Raleway Bold"/>
                <a:sym typeface="Raleway Bold"/>
              </a:rPr>
              <a:t>f"Summarizing</a:t>
            </a:r>
            <a:r>
              <a:rPr lang="en-US" sz="2000" b="1" dirty="0">
                <a:solidFill>
                  <a:srgbClr val="804F3B"/>
                </a:solidFill>
                <a:latin typeface="Raleway Bold"/>
                <a:ea typeface="Raleway Bold"/>
                <a:cs typeface="Raleway Bold"/>
                <a:sym typeface="Raleway Bold"/>
              </a:rPr>
              <a:t> in {</a:t>
            </a:r>
            <a:r>
              <a:rPr lang="en-US" sz="2000" b="1" dirty="0" err="1">
                <a:solidFill>
                  <a:srgbClr val="804F3B"/>
                </a:solidFill>
                <a:latin typeface="Raleway Bold"/>
                <a:ea typeface="Raleway Bold"/>
                <a:cs typeface="Raleway Bold"/>
                <a:sym typeface="Raleway Bold"/>
              </a:rPr>
              <a:t>num_iters</a:t>
            </a:r>
            <a:r>
              <a:rPr lang="en-US" sz="2000" b="1" dirty="0">
                <a:solidFill>
                  <a:srgbClr val="804F3B"/>
                </a:solidFill>
                <a:latin typeface="Raleway Bold"/>
                <a:ea typeface="Raleway Bold"/>
                <a:cs typeface="Raleway Bold"/>
                <a:sym typeface="Raleway Bold"/>
              </a:rPr>
              <a:t> + 1} chunks...")</a:t>
            </a:r>
          </a:p>
          <a:p>
            <a:pPr algn="l">
              <a:lnSpc>
                <a:spcPts val="3470"/>
              </a:lnSpc>
            </a:pPr>
            <a:endParaRPr lang="en-US" sz="2000" b="1" dirty="0">
              <a:solidFill>
                <a:srgbClr val="804F3B"/>
              </a:solidFill>
              <a:latin typeface="Raleway Bold"/>
              <a:ea typeface="Raleway Bold"/>
              <a:cs typeface="Raleway Bold"/>
              <a:sym typeface="Raleway Bold"/>
            </a:endParaRPr>
          </a:p>
          <a:p>
            <a:pPr algn="l">
              <a:lnSpc>
                <a:spcPts val="3470"/>
              </a:lnSpc>
            </a:pPr>
            <a:r>
              <a:rPr lang="en-US" sz="2000" b="1" dirty="0">
                <a:solidFill>
                  <a:srgbClr val="804F3B"/>
                </a:solidFill>
                <a:latin typeface="Raleway Bold"/>
                <a:ea typeface="Raleway Bold"/>
                <a:cs typeface="Raleway Bold"/>
                <a:sym typeface="Raleway Bold"/>
              </a:rPr>
              <a:t>    for </a:t>
            </a:r>
            <a:r>
              <a:rPr lang="en-US" sz="2000" b="1" dirty="0" err="1">
                <a:solidFill>
                  <a:srgbClr val="804F3B"/>
                </a:solidFill>
                <a:latin typeface="Raleway Bold"/>
                <a:ea typeface="Raleway Bold"/>
                <a:cs typeface="Raleway Bold"/>
                <a:sym typeface="Raleway Bold"/>
              </a:rPr>
              <a:t>i</a:t>
            </a:r>
            <a:r>
              <a:rPr lang="en-US" sz="2000" b="1" dirty="0">
                <a:solidFill>
                  <a:srgbClr val="804F3B"/>
                </a:solidFill>
                <a:latin typeface="Raleway Bold"/>
                <a:ea typeface="Raleway Bold"/>
                <a:cs typeface="Raleway Bold"/>
                <a:sym typeface="Raleway Bold"/>
              </a:rPr>
              <a:t> in range(0, </a:t>
            </a:r>
            <a:r>
              <a:rPr lang="en-US" sz="2000" b="1" dirty="0" err="1">
                <a:solidFill>
                  <a:srgbClr val="804F3B"/>
                </a:solidFill>
                <a:latin typeface="Raleway Bold"/>
                <a:ea typeface="Raleway Bold"/>
                <a:cs typeface="Raleway Bold"/>
                <a:sym typeface="Raleway Bold"/>
              </a:rPr>
              <a:t>num_iters</a:t>
            </a:r>
            <a:r>
              <a:rPr lang="en-US" sz="2000" b="1" dirty="0">
                <a:solidFill>
                  <a:srgbClr val="804F3B"/>
                </a:solidFill>
                <a:latin typeface="Raleway Bold"/>
                <a:ea typeface="Raleway Bold"/>
                <a:cs typeface="Raleway Bold"/>
                <a:sym typeface="Raleway Bold"/>
              </a:rPr>
              <a:t> + 1):</a:t>
            </a:r>
          </a:p>
          <a:p>
            <a:pPr algn="l">
              <a:lnSpc>
                <a:spcPts val="3470"/>
              </a:lnSpc>
            </a:pPr>
            <a:r>
              <a:rPr lang="en-US" sz="2000" b="1" dirty="0">
                <a:solidFill>
                  <a:srgbClr val="804F3B"/>
                </a:solidFill>
                <a:latin typeface="Raleway Bold"/>
                <a:ea typeface="Raleway Bold"/>
                <a:cs typeface="Raleway Bold"/>
                <a:sym typeface="Raleway Bold"/>
              </a:rPr>
              <a:t>        chunk = text[</a:t>
            </a:r>
            <a:r>
              <a:rPr lang="en-US" sz="2000" b="1" dirty="0" err="1">
                <a:solidFill>
                  <a:srgbClr val="804F3B"/>
                </a:solidFill>
                <a:latin typeface="Raleway Bold"/>
                <a:ea typeface="Raleway Bold"/>
                <a:cs typeface="Raleway Bold"/>
                <a:sym typeface="Raleway Bold"/>
              </a:rPr>
              <a:t>i</a:t>
            </a:r>
            <a:r>
              <a:rPr lang="en-US" sz="2000" b="1" dirty="0">
                <a:solidFill>
                  <a:srgbClr val="804F3B"/>
                </a:solidFill>
                <a:latin typeface="Raleway Bold"/>
                <a:ea typeface="Raleway Bold"/>
                <a:cs typeface="Raleway Bold"/>
                <a:sym typeface="Raleway Bold"/>
              </a:rPr>
              <a:t> * 1000: (</a:t>
            </a:r>
            <a:r>
              <a:rPr lang="en-US" sz="2000" b="1" dirty="0" err="1">
                <a:solidFill>
                  <a:srgbClr val="804F3B"/>
                </a:solidFill>
                <a:latin typeface="Raleway Bold"/>
                <a:ea typeface="Raleway Bold"/>
                <a:cs typeface="Raleway Bold"/>
                <a:sym typeface="Raleway Bold"/>
              </a:rPr>
              <a:t>i</a:t>
            </a:r>
            <a:r>
              <a:rPr lang="en-US" sz="2000" b="1" dirty="0">
                <a:solidFill>
                  <a:srgbClr val="804F3B"/>
                </a:solidFill>
                <a:latin typeface="Raleway Bold"/>
                <a:ea typeface="Raleway Bold"/>
                <a:cs typeface="Raleway Bold"/>
                <a:sym typeface="Raleway Bold"/>
              </a:rPr>
              <a:t> + 1) * 1000]</a:t>
            </a:r>
          </a:p>
          <a:p>
            <a:pPr algn="l">
              <a:lnSpc>
                <a:spcPts val="3470"/>
              </a:lnSpc>
            </a:pPr>
            <a:r>
              <a:rPr lang="en-US" sz="2000" b="1" dirty="0">
                <a:solidFill>
                  <a:srgbClr val="804F3B"/>
                </a:solidFill>
                <a:latin typeface="Raleway Bold"/>
                <a:ea typeface="Raleway Bold"/>
                <a:cs typeface="Raleway Bold"/>
                <a:sym typeface="Raleway Bold"/>
              </a:rPr>
              <a:t>        if not </a:t>
            </a:r>
            <a:r>
              <a:rPr lang="en-US" sz="2000" b="1" dirty="0" err="1">
                <a:solidFill>
                  <a:srgbClr val="804F3B"/>
                </a:solidFill>
                <a:latin typeface="Raleway Bold"/>
                <a:ea typeface="Raleway Bold"/>
                <a:cs typeface="Raleway Bold"/>
                <a:sym typeface="Raleway Bold"/>
              </a:rPr>
              <a:t>chunk.strip</a:t>
            </a:r>
            <a:r>
              <a:rPr lang="en-US" sz="2000" b="1" dirty="0">
                <a:solidFill>
                  <a:srgbClr val="804F3B"/>
                </a:solidFill>
                <a:latin typeface="Raleway Bold"/>
                <a:ea typeface="Raleway Bold"/>
                <a:cs typeface="Raleway Bold"/>
                <a:sym typeface="Raleway Bold"/>
              </a:rPr>
              <a:t>():</a:t>
            </a:r>
          </a:p>
          <a:p>
            <a:pPr algn="l">
              <a:lnSpc>
                <a:spcPts val="3470"/>
              </a:lnSpc>
            </a:pPr>
            <a:r>
              <a:rPr lang="en-US" sz="2000" b="1" dirty="0">
                <a:solidFill>
                  <a:srgbClr val="804F3B"/>
                </a:solidFill>
                <a:latin typeface="Raleway Bold"/>
                <a:ea typeface="Raleway Bold"/>
                <a:cs typeface="Raleway Bold"/>
                <a:sym typeface="Raleway Bold"/>
              </a:rPr>
              <a:t>            continue</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input_length</a:t>
            </a:r>
            <a:r>
              <a:rPr lang="en-US" sz="2000" b="1" dirty="0">
                <a:solidFill>
                  <a:srgbClr val="804F3B"/>
                </a:solidFill>
                <a:latin typeface="Raleway Bold"/>
                <a:ea typeface="Raleway Bold"/>
                <a:cs typeface="Raleway Bold"/>
                <a:sym typeface="Raleway Bold"/>
              </a:rPr>
              <a:t> = </a:t>
            </a:r>
            <a:r>
              <a:rPr lang="en-US" sz="2000" b="1" dirty="0" err="1">
                <a:solidFill>
                  <a:srgbClr val="804F3B"/>
                </a:solidFill>
                <a:latin typeface="Raleway Bold"/>
                <a:ea typeface="Raleway Bold"/>
                <a:cs typeface="Raleway Bold"/>
                <a:sym typeface="Raleway Bold"/>
              </a:rPr>
              <a:t>len</a:t>
            </a:r>
            <a:r>
              <a:rPr lang="en-US" sz="2000" b="1" dirty="0">
                <a:solidFill>
                  <a:srgbClr val="804F3B"/>
                </a:solidFill>
                <a:latin typeface="Raleway Bold"/>
                <a:ea typeface="Raleway Bold"/>
                <a:cs typeface="Raleway Bold"/>
                <a:sym typeface="Raleway Bold"/>
              </a:rPr>
              <a:t>(</a:t>
            </a:r>
            <a:r>
              <a:rPr lang="en-US" sz="2000" b="1" dirty="0" err="1">
                <a:solidFill>
                  <a:srgbClr val="804F3B"/>
                </a:solidFill>
                <a:latin typeface="Raleway Bold"/>
                <a:ea typeface="Raleway Bold"/>
                <a:cs typeface="Raleway Bold"/>
                <a:sym typeface="Raleway Bold"/>
              </a:rPr>
              <a:t>chunk.split</a:t>
            </a:r>
            <a:r>
              <a:rPr lang="en-US" sz="2000" b="1" dirty="0">
                <a:solidFill>
                  <a:srgbClr val="804F3B"/>
                </a:solidFill>
                <a:latin typeface="Raleway Bold"/>
                <a:ea typeface="Raleway Bold"/>
                <a:cs typeface="Raleway Bold"/>
                <a:sym typeface="Raleway Bold"/>
              </a:rPr>
              <a:t>())</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max_len</a:t>
            </a:r>
            <a:r>
              <a:rPr lang="en-US" sz="2000" b="1" dirty="0">
                <a:solidFill>
                  <a:srgbClr val="804F3B"/>
                </a:solidFill>
                <a:latin typeface="Raleway Bold"/>
                <a:ea typeface="Raleway Bold"/>
                <a:cs typeface="Raleway Bold"/>
                <a:sym typeface="Raleway Bold"/>
              </a:rPr>
              <a:t> = min(100, max(20, int(</a:t>
            </a:r>
            <a:r>
              <a:rPr lang="en-US" sz="2000" b="1" dirty="0" err="1">
                <a:solidFill>
                  <a:srgbClr val="804F3B"/>
                </a:solidFill>
                <a:latin typeface="Raleway Bold"/>
                <a:ea typeface="Raleway Bold"/>
                <a:cs typeface="Raleway Bold"/>
                <a:sym typeface="Raleway Bold"/>
              </a:rPr>
              <a:t>input_length</a:t>
            </a:r>
            <a:r>
              <a:rPr lang="en-US" sz="2000" b="1" dirty="0">
                <a:solidFill>
                  <a:srgbClr val="804F3B"/>
                </a:solidFill>
                <a:latin typeface="Raleway Bold"/>
                <a:ea typeface="Raleway Bold"/>
                <a:cs typeface="Raleway Bold"/>
                <a:sym typeface="Raleway Bold"/>
              </a:rPr>
              <a:t> * 0.6)))</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min_len</a:t>
            </a:r>
            <a:r>
              <a:rPr lang="en-US" sz="2000" b="1" dirty="0">
                <a:solidFill>
                  <a:srgbClr val="804F3B"/>
                </a:solidFill>
                <a:latin typeface="Raleway Bold"/>
                <a:ea typeface="Raleway Bold"/>
                <a:cs typeface="Raleway Bold"/>
                <a:sym typeface="Raleway Bold"/>
              </a:rPr>
              <a:t> = min(30, max(5, int(</a:t>
            </a:r>
            <a:r>
              <a:rPr lang="en-US" sz="2000" b="1" dirty="0" err="1">
                <a:solidFill>
                  <a:srgbClr val="804F3B"/>
                </a:solidFill>
                <a:latin typeface="Raleway Bold"/>
                <a:ea typeface="Raleway Bold"/>
                <a:cs typeface="Raleway Bold"/>
                <a:sym typeface="Raleway Bold"/>
              </a:rPr>
              <a:t>input_length</a:t>
            </a:r>
            <a:r>
              <a:rPr lang="en-US" sz="2000" b="1" dirty="0">
                <a:solidFill>
                  <a:srgbClr val="804F3B"/>
                </a:solidFill>
                <a:latin typeface="Raleway Bold"/>
                <a:ea typeface="Raleway Bold"/>
                <a:cs typeface="Raleway Bold"/>
                <a:sym typeface="Raleway Bold"/>
              </a:rPr>
              <a:t> * 0.3)))</a:t>
            </a:r>
          </a:p>
          <a:p>
            <a:pPr algn="l">
              <a:lnSpc>
                <a:spcPts val="3470"/>
              </a:lnSpc>
            </a:pPr>
            <a:endParaRPr lang="en-US" sz="2000" b="1" dirty="0">
              <a:solidFill>
                <a:srgbClr val="804F3B"/>
              </a:solidFill>
              <a:latin typeface="Raleway Bold"/>
              <a:ea typeface="Raleway Bold"/>
              <a:cs typeface="Raleway Bold"/>
              <a:sym typeface="Raleway Bold"/>
            </a:endParaRPr>
          </a:p>
          <a:p>
            <a:pPr algn="l">
              <a:lnSpc>
                <a:spcPts val="3470"/>
              </a:lnSpc>
            </a:pPr>
            <a:r>
              <a:rPr lang="en-US" sz="2000" b="1" dirty="0">
                <a:solidFill>
                  <a:srgbClr val="804F3B"/>
                </a:solidFill>
                <a:latin typeface="Raleway Bold"/>
                <a:ea typeface="Raleway Bold"/>
                <a:cs typeface="Raleway Bold"/>
                <a:sym typeface="Raleway Bold"/>
              </a:rPr>
              <a:t>        print(</a:t>
            </a:r>
            <a:r>
              <a:rPr lang="en-US" sz="2000" b="1" dirty="0" err="1">
                <a:solidFill>
                  <a:srgbClr val="804F3B"/>
                </a:solidFill>
                <a:latin typeface="Raleway Bold"/>
                <a:ea typeface="Raleway Bold"/>
                <a:cs typeface="Raleway Bold"/>
                <a:sym typeface="Raleway Bold"/>
              </a:rPr>
              <a:t>f"Chunk</a:t>
            </a:r>
            <a:r>
              <a:rPr lang="en-US" sz="2000" b="1" dirty="0">
                <a:solidFill>
                  <a:srgbClr val="804F3B"/>
                </a:solidFill>
                <a:latin typeface="Raleway Bold"/>
                <a:ea typeface="Raleway Bold"/>
                <a:cs typeface="Raleway Bold"/>
                <a:sym typeface="Raleway Bold"/>
              </a:rPr>
              <a:t> {i+1}/{num_iters+1}: summarizing {</a:t>
            </a:r>
            <a:r>
              <a:rPr lang="en-US" sz="2000" b="1" dirty="0" err="1">
                <a:solidFill>
                  <a:srgbClr val="804F3B"/>
                </a:solidFill>
                <a:latin typeface="Raleway Bold"/>
                <a:ea typeface="Raleway Bold"/>
                <a:cs typeface="Raleway Bold"/>
                <a:sym typeface="Raleway Bold"/>
              </a:rPr>
              <a:t>input_length</a:t>
            </a:r>
            <a:r>
              <a:rPr lang="en-US" sz="2000" b="1" dirty="0">
                <a:solidFill>
                  <a:srgbClr val="804F3B"/>
                </a:solidFill>
                <a:latin typeface="Raleway Bold"/>
                <a:ea typeface="Raleway Bold"/>
                <a:cs typeface="Raleway Bold"/>
                <a:sym typeface="Raleway Bold"/>
              </a:rPr>
              <a:t>} words...")</a:t>
            </a:r>
          </a:p>
          <a:p>
            <a:pPr algn="l">
              <a:lnSpc>
                <a:spcPts val="3470"/>
              </a:lnSpc>
            </a:pPr>
            <a:endParaRPr lang="en-US" sz="2800" b="1" dirty="0">
              <a:solidFill>
                <a:srgbClr val="804F3B"/>
              </a:solidFill>
              <a:latin typeface="Raleway Bold"/>
              <a:ea typeface="Raleway Bold"/>
              <a:cs typeface="Raleway Bold"/>
              <a:sym typeface="Raleway Bold"/>
            </a:endParaRPr>
          </a:p>
        </p:txBody>
      </p:sp>
      <p:grpSp>
        <p:nvGrpSpPr>
          <p:cNvPr id="13" name="Group 3">
            <a:extLst>
              <a:ext uri="{FF2B5EF4-FFF2-40B4-BE49-F238E27FC236}">
                <a16:creationId xmlns:a16="http://schemas.microsoft.com/office/drawing/2014/main" id="{8AC31212-C5FF-8E05-9C98-DAE8DB2355F5}"/>
              </a:ext>
            </a:extLst>
          </p:cNvPr>
          <p:cNvGrpSpPr/>
          <p:nvPr/>
        </p:nvGrpSpPr>
        <p:grpSpPr>
          <a:xfrm>
            <a:off x="16740784" y="0"/>
            <a:ext cx="1547216" cy="10287000"/>
            <a:chOff x="0" y="0"/>
            <a:chExt cx="2062955" cy="13716000"/>
          </a:xfrm>
        </p:grpSpPr>
        <p:sp>
          <p:nvSpPr>
            <p:cNvPr id="14" name="Freeform 4">
              <a:extLst>
                <a:ext uri="{FF2B5EF4-FFF2-40B4-BE49-F238E27FC236}">
                  <a16:creationId xmlns:a16="http://schemas.microsoft.com/office/drawing/2014/main" id="{C9FDD33E-50E9-466A-E799-CD63EA49B80A}"/>
                </a:ext>
              </a:extLst>
            </p:cNvPr>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9" name="TextBox 8">
            <a:extLst>
              <a:ext uri="{FF2B5EF4-FFF2-40B4-BE49-F238E27FC236}">
                <a16:creationId xmlns:a16="http://schemas.microsoft.com/office/drawing/2014/main" id="{D2C21B99-5648-9916-3143-4754487057E3}"/>
              </a:ext>
            </a:extLst>
          </p:cNvPr>
          <p:cNvSpPr txBox="1"/>
          <p:nvPr/>
        </p:nvSpPr>
        <p:spPr>
          <a:xfrm>
            <a:off x="8514189" y="2400300"/>
            <a:ext cx="10029824" cy="2284023"/>
          </a:xfrm>
          <a:prstGeom prst="rect">
            <a:avLst/>
          </a:prstGeom>
          <a:noFill/>
        </p:spPr>
        <p:txBody>
          <a:bodyPr wrap="square">
            <a:spAutoFit/>
          </a:bodyPr>
          <a:lstStyle/>
          <a:p>
            <a:pPr algn="l">
              <a:lnSpc>
                <a:spcPts val="3470"/>
              </a:lnSpc>
            </a:pPr>
            <a:r>
              <a:rPr lang="en-US" sz="2000" b="1" dirty="0">
                <a:solidFill>
                  <a:srgbClr val="804F3B"/>
                </a:solidFill>
                <a:latin typeface="Raleway Bold"/>
                <a:ea typeface="Raleway Bold"/>
                <a:cs typeface="Raleway Bold"/>
                <a:sym typeface="Raleway Bold"/>
              </a:rPr>
              <a:t> out = summarizer(chunk, </a:t>
            </a:r>
            <a:r>
              <a:rPr lang="en-US" sz="2000" b="1" dirty="0" err="1">
                <a:solidFill>
                  <a:srgbClr val="804F3B"/>
                </a:solidFill>
                <a:latin typeface="Raleway Bold"/>
                <a:ea typeface="Raleway Bold"/>
                <a:cs typeface="Raleway Bold"/>
                <a:sym typeface="Raleway Bold"/>
              </a:rPr>
              <a:t>min_length</a:t>
            </a:r>
            <a:r>
              <a:rPr lang="en-US" sz="2000" b="1" dirty="0">
                <a:solidFill>
                  <a:srgbClr val="804F3B"/>
                </a:solidFill>
                <a:latin typeface="Raleway Bold"/>
                <a:ea typeface="Raleway Bold"/>
                <a:cs typeface="Raleway Bold"/>
                <a:sym typeface="Raleway Bold"/>
              </a:rPr>
              <a:t>=</a:t>
            </a:r>
            <a:r>
              <a:rPr lang="en-US" sz="2000" b="1" dirty="0" err="1">
                <a:solidFill>
                  <a:srgbClr val="804F3B"/>
                </a:solidFill>
                <a:latin typeface="Raleway Bold"/>
                <a:ea typeface="Raleway Bold"/>
                <a:cs typeface="Raleway Bold"/>
                <a:sym typeface="Raleway Bold"/>
              </a:rPr>
              <a:t>min_len</a:t>
            </a: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max_length</a:t>
            </a:r>
            <a:r>
              <a:rPr lang="en-US" sz="2000" b="1" dirty="0">
                <a:solidFill>
                  <a:srgbClr val="804F3B"/>
                </a:solidFill>
                <a:latin typeface="Raleway Bold"/>
                <a:ea typeface="Raleway Bold"/>
                <a:cs typeface="Raleway Bold"/>
                <a:sym typeface="Raleway Bold"/>
              </a:rPr>
              <a:t>=</a:t>
            </a:r>
            <a:r>
              <a:rPr lang="en-US" sz="2000" b="1" dirty="0" err="1">
                <a:solidFill>
                  <a:srgbClr val="804F3B"/>
                </a:solidFill>
                <a:latin typeface="Raleway Bold"/>
                <a:ea typeface="Raleway Bold"/>
                <a:cs typeface="Raleway Bold"/>
                <a:sym typeface="Raleway Bold"/>
              </a:rPr>
              <a:t>max_len</a:t>
            </a:r>
            <a:r>
              <a:rPr lang="en-US" sz="2000" b="1" dirty="0">
                <a:solidFill>
                  <a:srgbClr val="804F3B"/>
                </a:solidFill>
                <a:latin typeface="Raleway Bold"/>
                <a:ea typeface="Raleway Bold"/>
                <a:cs typeface="Raleway Bold"/>
                <a:sym typeface="Raleway Bold"/>
              </a:rPr>
              <a:t>)</a:t>
            </a:r>
          </a:p>
          <a:p>
            <a:pPr algn="l">
              <a:lnSpc>
                <a:spcPts val="3470"/>
              </a:lnSpc>
            </a:pPr>
            <a:r>
              <a:rPr lang="en-US" sz="2000" b="1" dirty="0">
                <a:solidFill>
                  <a:srgbClr val="804F3B"/>
                </a:solidFill>
                <a:latin typeface="Raleway Bold"/>
                <a:ea typeface="Raleway Bold"/>
                <a:cs typeface="Raleway Bold"/>
                <a:sym typeface="Raleway Bold"/>
              </a:rPr>
              <a:t>        </a:t>
            </a:r>
            <a:r>
              <a:rPr lang="en-US" sz="2000" b="1" dirty="0" err="1">
                <a:solidFill>
                  <a:srgbClr val="804F3B"/>
                </a:solidFill>
                <a:latin typeface="Raleway Bold"/>
                <a:ea typeface="Raleway Bold"/>
                <a:cs typeface="Raleway Bold"/>
                <a:sym typeface="Raleway Bold"/>
              </a:rPr>
              <a:t>summarized_text.append</a:t>
            </a:r>
            <a:r>
              <a:rPr lang="en-US" sz="2000" b="1" dirty="0">
                <a:solidFill>
                  <a:srgbClr val="804F3B"/>
                </a:solidFill>
                <a:latin typeface="Raleway Bold"/>
                <a:ea typeface="Raleway Bold"/>
                <a:cs typeface="Raleway Bold"/>
                <a:sym typeface="Raleway Bold"/>
              </a:rPr>
              <a:t>(out[0]['</a:t>
            </a:r>
            <a:r>
              <a:rPr lang="en-US" sz="2000" b="1" dirty="0" err="1">
                <a:solidFill>
                  <a:srgbClr val="804F3B"/>
                </a:solidFill>
                <a:latin typeface="Raleway Bold"/>
                <a:ea typeface="Raleway Bold"/>
                <a:cs typeface="Raleway Bold"/>
                <a:sym typeface="Raleway Bold"/>
              </a:rPr>
              <a:t>summary_text</a:t>
            </a:r>
            <a:r>
              <a:rPr lang="en-US" sz="2000" b="1" dirty="0">
                <a:solidFill>
                  <a:srgbClr val="804F3B"/>
                </a:solidFill>
                <a:latin typeface="Raleway Bold"/>
                <a:ea typeface="Raleway Bold"/>
                <a:cs typeface="Raleway Bold"/>
                <a:sym typeface="Raleway Bold"/>
              </a:rPr>
              <a:t>'])</a:t>
            </a:r>
          </a:p>
          <a:p>
            <a:pPr algn="l">
              <a:lnSpc>
                <a:spcPts val="3470"/>
              </a:lnSpc>
            </a:pPr>
            <a:endParaRPr lang="en-US" sz="2000" b="1" dirty="0">
              <a:solidFill>
                <a:srgbClr val="804F3B"/>
              </a:solidFill>
              <a:latin typeface="Raleway Bold"/>
              <a:ea typeface="Raleway Bold"/>
              <a:cs typeface="Raleway Bold"/>
              <a:sym typeface="Raleway Bold"/>
            </a:endParaRPr>
          </a:p>
          <a:p>
            <a:pPr algn="l">
              <a:lnSpc>
                <a:spcPts val="3470"/>
              </a:lnSpc>
            </a:pPr>
            <a:r>
              <a:rPr lang="en-US" sz="2000" b="1" dirty="0">
                <a:solidFill>
                  <a:srgbClr val="804F3B"/>
                </a:solidFill>
                <a:latin typeface="Raleway Bold"/>
                <a:ea typeface="Raleway Bold"/>
                <a:cs typeface="Raleway Bold"/>
                <a:sym typeface="Raleway Bold"/>
              </a:rPr>
              <a:t>    print("Summarization complete.")</a:t>
            </a:r>
          </a:p>
          <a:p>
            <a:pPr algn="l">
              <a:lnSpc>
                <a:spcPts val="3470"/>
              </a:lnSpc>
            </a:pPr>
            <a:r>
              <a:rPr lang="en-US" sz="2000" b="1" dirty="0">
                <a:solidFill>
                  <a:srgbClr val="804F3B"/>
                </a:solidFill>
                <a:latin typeface="Raleway Bold"/>
                <a:ea typeface="Raleway Bold"/>
                <a:cs typeface="Raleway Bold"/>
                <a:sym typeface="Raleway Bold"/>
              </a:rPr>
              <a:t>    return " ".join(</a:t>
            </a:r>
            <a:r>
              <a:rPr lang="en-US" sz="2000" b="1" dirty="0" err="1">
                <a:solidFill>
                  <a:srgbClr val="804F3B"/>
                </a:solidFill>
                <a:latin typeface="Raleway Bold"/>
                <a:ea typeface="Raleway Bold"/>
                <a:cs typeface="Raleway Bold"/>
                <a:sym typeface="Raleway Bold"/>
              </a:rPr>
              <a:t>summarized_text</a:t>
            </a:r>
            <a:r>
              <a:rPr lang="en-US" sz="2000" b="1" dirty="0">
                <a:solidFill>
                  <a:srgbClr val="804F3B"/>
                </a:solidFill>
                <a:latin typeface="Raleway Bold"/>
                <a:ea typeface="Raleway Bold"/>
                <a:cs typeface="Raleway Bold"/>
                <a:sym typeface="Raleway Bold"/>
              </a:rPr>
              <a:t>)</a:t>
            </a:r>
            <a:endParaRPr lang="en-IN" sz="2000" dirty="0"/>
          </a:p>
        </p:txBody>
      </p:sp>
    </p:spTree>
    <p:extLst>
      <p:ext uri="{BB962C8B-B14F-4D97-AF65-F5344CB8AC3E}">
        <p14:creationId xmlns:p14="http://schemas.microsoft.com/office/powerpoint/2010/main" val="2132512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2111503" y="1900385"/>
            <a:ext cx="12174150" cy="7569687"/>
          </a:xfrm>
          <a:custGeom>
            <a:avLst/>
            <a:gdLst/>
            <a:ahLst/>
            <a:cxnLst/>
            <a:rect l="l" t="t" r="r" b="b"/>
            <a:pathLst>
              <a:path w="12174150" h="7569687">
                <a:moveTo>
                  <a:pt x="0" y="0"/>
                </a:moveTo>
                <a:lnTo>
                  <a:pt x="12174150" y="0"/>
                </a:lnTo>
                <a:lnTo>
                  <a:pt x="12174150" y="7569687"/>
                </a:lnTo>
                <a:lnTo>
                  <a:pt x="0" y="7569687"/>
                </a:lnTo>
                <a:lnTo>
                  <a:pt x="0" y="0"/>
                </a:lnTo>
                <a:close/>
              </a:path>
            </a:pathLst>
          </a:custGeom>
          <a:blipFill>
            <a:blip r:embed="rId2"/>
            <a:stretch>
              <a:fillRect r="-10539"/>
            </a:stretch>
          </a:blipFill>
        </p:spPr>
      </p:sp>
      <p:sp>
        <p:nvSpPr>
          <p:cNvPr id="6" name="TextBox 6"/>
          <p:cNvSpPr txBox="1"/>
          <p:nvPr/>
        </p:nvSpPr>
        <p:spPr>
          <a:xfrm>
            <a:off x="1028700" y="703961"/>
            <a:ext cx="33270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X</a:t>
            </a:r>
          </a:p>
        </p:txBody>
      </p:sp>
      <p:sp>
        <p:nvSpPr>
          <p:cNvPr id="7" name="TextBox 7"/>
          <p:cNvSpPr txBox="1"/>
          <p:nvPr/>
        </p:nvSpPr>
        <p:spPr>
          <a:xfrm>
            <a:off x="1668407" y="703961"/>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RESULTS</a:t>
            </a:r>
          </a:p>
        </p:txBody>
      </p:sp>
      <p:sp>
        <p:nvSpPr>
          <p:cNvPr id="8" name="TextBox 8"/>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12</a:t>
            </a:r>
          </a:p>
        </p:txBody>
      </p:sp>
      <p:sp>
        <p:nvSpPr>
          <p:cNvPr id="9" name="TextBox 9"/>
          <p:cNvSpPr txBox="1"/>
          <p:nvPr/>
        </p:nvSpPr>
        <p:spPr>
          <a:xfrm>
            <a:off x="2111503" y="1202569"/>
            <a:ext cx="5366747" cy="697816"/>
          </a:xfrm>
          <a:prstGeom prst="rect">
            <a:avLst/>
          </a:prstGeom>
        </p:spPr>
        <p:txBody>
          <a:bodyPr lIns="0" tIns="0" rIns="0" bIns="0" rtlCol="0" anchor="t">
            <a:spAutoFit/>
          </a:bodyPr>
          <a:lstStyle/>
          <a:p>
            <a:pPr algn="l">
              <a:lnSpc>
                <a:spcPts val="5919"/>
              </a:lnSpc>
            </a:pPr>
            <a:r>
              <a:rPr lang="en-US" sz="3698" dirty="0">
                <a:solidFill>
                  <a:srgbClr val="804F3B"/>
                </a:solidFill>
                <a:latin typeface="Radley"/>
                <a:ea typeface="Radley"/>
                <a:cs typeface="Radley"/>
                <a:sym typeface="Radley"/>
              </a:rPr>
              <a:t>Website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Freeform 5"/>
          <p:cNvSpPr/>
          <p:nvPr/>
        </p:nvSpPr>
        <p:spPr>
          <a:xfrm>
            <a:off x="2832666" y="2324100"/>
            <a:ext cx="3509285" cy="6953243"/>
          </a:xfrm>
          <a:custGeom>
            <a:avLst/>
            <a:gdLst/>
            <a:ahLst/>
            <a:cxnLst/>
            <a:rect l="l" t="t" r="r" b="b"/>
            <a:pathLst>
              <a:path w="2816635" h="6953243">
                <a:moveTo>
                  <a:pt x="0" y="0"/>
                </a:moveTo>
                <a:lnTo>
                  <a:pt x="2816635" y="0"/>
                </a:lnTo>
                <a:lnTo>
                  <a:pt x="2816635" y="6953243"/>
                </a:lnTo>
                <a:lnTo>
                  <a:pt x="0" y="6953243"/>
                </a:lnTo>
                <a:lnTo>
                  <a:pt x="0" y="0"/>
                </a:lnTo>
                <a:close/>
              </a:path>
            </a:pathLst>
          </a:custGeom>
          <a:blipFill>
            <a:blip r:embed="rId2"/>
            <a:stretch>
              <a:fillRect r="-11088"/>
            </a:stretch>
          </a:blipFill>
        </p:spPr>
      </p:sp>
      <p:sp>
        <p:nvSpPr>
          <p:cNvPr id="6" name="Freeform 6"/>
          <p:cNvSpPr/>
          <p:nvPr/>
        </p:nvSpPr>
        <p:spPr>
          <a:xfrm>
            <a:off x="9352330" y="2343149"/>
            <a:ext cx="3509285" cy="6948481"/>
          </a:xfrm>
          <a:custGeom>
            <a:avLst/>
            <a:gdLst/>
            <a:ahLst/>
            <a:cxnLst/>
            <a:rect l="l" t="t" r="r" b="b"/>
            <a:pathLst>
              <a:path w="3509285" h="6266580">
                <a:moveTo>
                  <a:pt x="0" y="0"/>
                </a:moveTo>
                <a:lnTo>
                  <a:pt x="3509285" y="0"/>
                </a:lnTo>
                <a:lnTo>
                  <a:pt x="3509285" y="6266580"/>
                </a:lnTo>
                <a:lnTo>
                  <a:pt x="0" y="6266580"/>
                </a:lnTo>
                <a:lnTo>
                  <a:pt x="0" y="0"/>
                </a:lnTo>
                <a:close/>
              </a:path>
            </a:pathLst>
          </a:custGeom>
          <a:blipFill>
            <a:blip r:embed="rId3"/>
            <a:stretch>
              <a:fillRect/>
            </a:stretch>
          </a:blipFill>
        </p:spPr>
      </p:sp>
      <p:sp>
        <p:nvSpPr>
          <p:cNvPr id="7" name="TextBox 7"/>
          <p:cNvSpPr txBox="1"/>
          <p:nvPr/>
        </p:nvSpPr>
        <p:spPr>
          <a:xfrm>
            <a:off x="1028700" y="703961"/>
            <a:ext cx="332700"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X</a:t>
            </a:r>
          </a:p>
        </p:txBody>
      </p:sp>
      <p:sp>
        <p:nvSpPr>
          <p:cNvPr id="8" name="TextBox 8"/>
          <p:cNvSpPr txBox="1"/>
          <p:nvPr/>
        </p:nvSpPr>
        <p:spPr>
          <a:xfrm>
            <a:off x="1668407" y="703961"/>
            <a:ext cx="323529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RESULTS</a:t>
            </a:r>
          </a:p>
        </p:txBody>
      </p:sp>
      <p:sp>
        <p:nvSpPr>
          <p:cNvPr id="9" name="TextBox 9"/>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12</a:t>
            </a:r>
          </a:p>
        </p:txBody>
      </p:sp>
      <p:sp>
        <p:nvSpPr>
          <p:cNvPr id="10" name="TextBox 10"/>
          <p:cNvSpPr txBox="1"/>
          <p:nvPr/>
        </p:nvSpPr>
        <p:spPr>
          <a:xfrm>
            <a:off x="3884717" y="1510556"/>
            <a:ext cx="5366747" cy="697816"/>
          </a:xfrm>
          <a:prstGeom prst="rect">
            <a:avLst/>
          </a:prstGeom>
        </p:spPr>
        <p:txBody>
          <a:bodyPr lIns="0" tIns="0" rIns="0" bIns="0" rtlCol="0" anchor="t">
            <a:spAutoFit/>
          </a:bodyPr>
          <a:lstStyle/>
          <a:p>
            <a:pPr algn="l">
              <a:lnSpc>
                <a:spcPts val="5919"/>
              </a:lnSpc>
            </a:pPr>
            <a:r>
              <a:rPr lang="en-US" sz="3698">
                <a:solidFill>
                  <a:srgbClr val="804F3B"/>
                </a:solidFill>
                <a:latin typeface="Radley"/>
                <a:ea typeface="Radley"/>
                <a:cs typeface="Radley"/>
                <a:sym typeface="Radley"/>
              </a:rPr>
              <a:t>App</a:t>
            </a:r>
          </a:p>
        </p:txBody>
      </p:sp>
      <p:sp>
        <p:nvSpPr>
          <p:cNvPr id="11" name="TextBox 11"/>
          <p:cNvSpPr txBox="1"/>
          <p:nvPr/>
        </p:nvSpPr>
        <p:spPr>
          <a:xfrm>
            <a:off x="9906000" y="1510556"/>
            <a:ext cx="5366747" cy="697816"/>
          </a:xfrm>
          <a:prstGeom prst="rect">
            <a:avLst/>
          </a:prstGeom>
        </p:spPr>
        <p:txBody>
          <a:bodyPr lIns="0" tIns="0" rIns="0" bIns="0" rtlCol="0" anchor="t">
            <a:spAutoFit/>
          </a:bodyPr>
          <a:lstStyle/>
          <a:p>
            <a:pPr algn="l">
              <a:lnSpc>
                <a:spcPts val="5919"/>
              </a:lnSpc>
            </a:pPr>
            <a:r>
              <a:rPr lang="en-US" sz="3698" dirty="0">
                <a:solidFill>
                  <a:srgbClr val="804F3B"/>
                </a:solidFill>
                <a:latin typeface="Radley"/>
                <a:ea typeface="Radley"/>
                <a:cs typeface="Radley"/>
                <a:sym typeface="Radley"/>
              </a:rPr>
              <a:t>Extension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TextBox 5"/>
          <p:cNvSpPr txBox="1"/>
          <p:nvPr/>
        </p:nvSpPr>
        <p:spPr>
          <a:xfrm>
            <a:off x="1028700" y="703961"/>
            <a:ext cx="504061"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XI</a:t>
            </a:r>
          </a:p>
        </p:txBody>
      </p:sp>
      <p:sp>
        <p:nvSpPr>
          <p:cNvPr id="6" name="TextBox 6"/>
          <p:cNvSpPr txBox="1"/>
          <p:nvPr/>
        </p:nvSpPr>
        <p:spPr>
          <a:xfrm>
            <a:off x="1760628" y="703961"/>
            <a:ext cx="5216182"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CONCLUSION </a:t>
            </a:r>
          </a:p>
        </p:txBody>
      </p:sp>
      <p:sp>
        <p:nvSpPr>
          <p:cNvPr id="7" name="TextBox 7"/>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13</a:t>
            </a:r>
          </a:p>
        </p:txBody>
      </p:sp>
      <p:sp>
        <p:nvSpPr>
          <p:cNvPr id="8" name="TextBox 8"/>
          <p:cNvSpPr txBox="1"/>
          <p:nvPr/>
        </p:nvSpPr>
        <p:spPr>
          <a:xfrm>
            <a:off x="1028701" y="1431506"/>
            <a:ext cx="13601699" cy="5154424"/>
          </a:xfrm>
          <a:prstGeom prst="rect">
            <a:avLst/>
          </a:prstGeom>
        </p:spPr>
        <p:txBody>
          <a:bodyPr wrap="square" lIns="0" tIns="0" rIns="0" bIns="0" rtlCol="0" anchor="t">
            <a:spAutoFit/>
          </a:bodyPr>
          <a:lstStyle/>
          <a:p>
            <a:pPr algn="l">
              <a:lnSpc>
                <a:spcPts val="6463"/>
              </a:lnSpc>
            </a:pPr>
            <a:endParaRPr dirty="0"/>
          </a:p>
          <a:p>
            <a:pPr algn="l">
              <a:lnSpc>
                <a:spcPts val="4654"/>
              </a:lnSpc>
            </a:pPr>
            <a:r>
              <a:rPr lang="en-US" sz="2585" dirty="0">
                <a:solidFill>
                  <a:srgbClr val="804F3B"/>
                </a:solidFill>
                <a:latin typeface="Raleway"/>
                <a:ea typeface="Raleway"/>
                <a:cs typeface="Raleway"/>
                <a:sym typeface="Raleway"/>
              </a:rPr>
              <a:t>The proposed Android-based Video Summarization Application offers an intelligent and efficient solution for extracting meaningful content from videos. By integrating Automatic Speech Recognition (ASR), Natural Language Processing (NLP), and Machine Learning (ML), the app provides accurate transcriptions and generates structured summaries and detailed descriptions.</a:t>
            </a:r>
          </a:p>
          <a:p>
            <a:pPr algn="l">
              <a:lnSpc>
                <a:spcPts val="4654"/>
              </a:lnSpc>
            </a:pPr>
            <a:endParaRPr lang="en-US" sz="2585" dirty="0">
              <a:solidFill>
                <a:srgbClr val="804F3B"/>
              </a:solidFill>
              <a:latin typeface="Raleway"/>
              <a:ea typeface="Raleway"/>
              <a:cs typeface="Raleway"/>
              <a:sym typeface="Raleway"/>
            </a:endParaRPr>
          </a:p>
          <a:p>
            <a:pPr algn="l">
              <a:lnSpc>
                <a:spcPts val="6463"/>
              </a:lnSpc>
            </a:pPr>
            <a:endParaRPr lang="en-US" sz="2585" dirty="0">
              <a:solidFill>
                <a:srgbClr val="804F3B"/>
              </a:solidFill>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sp>
        <p:nvSpPr>
          <p:cNvPr id="2" name="TextBox 2"/>
          <p:cNvSpPr txBox="1"/>
          <p:nvPr/>
        </p:nvSpPr>
        <p:spPr>
          <a:xfrm>
            <a:off x="17127588" y="9144000"/>
            <a:ext cx="773608" cy="594995"/>
          </a:xfrm>
          <a:prstGeom prst="rect">
            <a:avLst/>
          </a:prstGeom>
        </p:spPr>
        <p:txBody>
          <a:bodyPr lIns="0" tIns="0" rIns="0" bIns="0" rtlCol="0" anchor="t">
            <a:spAutoFit/>
          </a:bodyPr>
          <a:lstStyle/>
          <a:p>
            <a:pPr algn="ctr">
              <a:lnSpc>
                <a:spcPts val="4480"/>
              </a:lnSpc>
            </a:pPr>
            <a:r>
              <a:rPr lang="en-US" sz="3200">
                <a:solidFill>
                  <a:srgbClr val="804F3B"/>
                </a:solidFill>
                <a:latin typeface="Prata"/>
                <a:ea typeface="Prata"/>
                <a:cs typeface="Prata"/>
                <a:sym typeface="Prata"/>
              </a:rPr>
              <a:t>2</a:t>
            </a:r>
          </a:p>
        </p:txBody>
      </p:sp>
      <p:grpSp>
        <p:nvGrpSpPr>
          <p:cNvPr id="3" name="Group 3"/>
          <p:cNvGrpSpPr/>
          <p:nvPr/>
        </p:nvGrpSpPr>
        <p:grpSpPr>
          <a:xfrm>
            <a:off x="16740784" y="0"/>
            <a:ext cx="1547216" cy="10287000"/>
            <a:chOff x="0" y="0"/>
            <a:chExt cx="2062955" cy="13716000"/>
          </a:xfrm>
        </p:grpSpPr>
        <p:sp>
          <p:nvSpPr>
            <p:cNvPr id="4" name="Freeform 4"/>
            <p:cNvSpPr/>
            <p:nvPr/>
          </p:nvSpPr>
          <p:spPr>
            <a:xfrm>
              <a:off x="0" y="0"/>
              <a:ext cx="2062988" cy="13716000"/>
            </a:xfrm>
            <a:custGeom>
              <a:avLst/>
              <a:gdLst/>
              <a:ahLst/>
              <a:cxnLst/>
              <a:rect l="l" t="t" r="r" b="b"/>
              <a:pathLst>
                <a:path w="2062988" h="13716000">
                  <a:moveTo>
                    <a:pt x="0" y="0"/>
                  </a:moveTo>
                  <a:lnTo>
                    <a:pt x="2062988" y="0"/>
                  </a:lnTo>
                  <a:lnTo>
                    <a:pt x="2062988" y="13716000"/>
                  </a:lnTo>
                  <a:lnTo>
                    <a:pt x="0" y="13716000"/>
                  </a:lnTo>
                  <a:close/>
                </a:path>
              </a:pathLst>
            </a:custGeom>
            <a:solidFill>
              <a:srgbClr val="E6CCB2"/>
            </a:solidFill>
          </p:spPr>
        </p:sp>
      </p:grpSp>
      <p:sp>
        <p:nvSpPr>
          <p:cNvPr id="5" name="TextBox 5"/>
          <p:cNvSpPr txBox="1"/>
          <p:nvPr/>
        </p:nvSpPr>
        <p:spPr>
          <a:xfrm>
            <a:off x="1028700" y="703961"/>
            <a:ext cx="731928"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XII</a:t>
            </a:r>
          </a:p>
        </p:txBody>
      </p:sp>
      <p:sp>
        <p:nvSpPr>
          <p:cNvPr id="6" name="TextBox 6"/>
          <p:cNvSpPr txBox="1"/>
          <p:nvPr/>
        </p:nvSpPr>
        <p:spPr>
          <a:xfrm>
            <a:off x="2110973" y="703961"/>
            <a:ext cx="5216182" cy="449550"/>
          </a:xfrm>
          <a:prstGeom prst="rect">
            <a:avLst/>
          </a:prstGeom>
        </p:spPr>
        <p:txBody>
          <a:bodyPr lIns="0" tIns="0" rIns="0" bIns="0" rtlCol="0" anchor="t">
            <a:spAutoFit/>
          </a:bodyPr>
          <a:lstStyle/>
          <a:p>
            <a:pPr algn="just">
              <a:lnSpc>
                <a:spcPts val="3509"/>
              </a:lnSpc>
            </a:pPr>
            <a:r>
              <a:rPr lang="en-US" sz="2998" b="1">
                <a:solidFill>
                  <a:srgbClr val="804F3B"/>
                </a:solidFill>
                <a:latin typeface="Raleway Bold"/>
                <a:ea typeface="Raleway Bold"/>
                <a:cs typeface="Raleway Bold"/>
                <a:sym typeface="Raleway Bold"/>
              </a:rPr>
              <a:t>REFERENCES</a:t>
            </a:r>
          </a:p>
        </p:txBody>
      </p:sp>
      <p:sp>
        <p:nvSpPr>
          <p:cNvPr id="7" name="TextBox 7"/>
          <p:cNvSpPr txBox="1"/>
          <p:nvPr/>
        </p:nvSpPr>
        <p:spPr>
          <a:xfrm>
            <a:off x="16991311" y="9010650"/>
            <a:ext cx="682307" cy="704850"/>
          </a:xfrm>
          <a:prstGeom prst="rect">
            <a:avLst/>
          </a:prstGeom>
        </p:spPr>
        <p:txBody>
          <a:bodyPr lIns="0" tIns="0" rIns="0" bIns="0" rtlCol="0" anchor="t">
            <a:spAutoFit/>
          </a:bodyPr>
          <a:lstStyle/>
          <a:p>
            <a:pPr algn="r">
              <a:lnSpc>
                <a:spcPts val="4800"/>
              </a:lnSpc>
            </a:pPr>
            <a:r>
              <a:rPr lang="en-US" sz="3000">
                <a:solidFill>
                  <a:srgbClr val="804F3B"/>
                </a:solidFill>
                <a:latin typeface="Raleway"/>
                <a:ea typeface="Raleway"/>
                <a:cs typeface="Raleway"/>
                <a:sym typeface="Raleway"/>
              </a:rPr>
              <a:t>13</a:t>
            </a:r>
          </a:p>
        </p:txBody>
      </p:sp>
      <p:sp>
        <p:nvSpPr>
          <p:cNvPr id="8" name="TextBox 8"/>
          <p:cNvSpPr txBox="1"/>
          <p:nvPr/>
        </p:nvSpPr>
        <p:spPr>
          <a:xfrm>
            <a:off x="1219200" y="1943100"/>
            <a:ext cx="13144500" cy="5064079"/>
          </a:xfrm>
          <a:prstGeom prst="rect">
            <a:avLst/>
          </a:prstGeom>
        </p:spPr>
        <p:txBody>
          <a:bodyPr wrap="square" lIns="0" tIns="0" rIns="0" bIns="0" rtlCol="0" anchor="t">
            <a:spAutoFit/>
          </a:bodyPr>
          <a:lstStyle/>
          <a:p>
            <a:pPr marL="514350" indent="-514350" algn="l">
              <a:lnSpc>
                <a:spcPts val="5038"/>
              </a:lnSpc>
              <a:buFont typeface="+mj-lt"/>
              <a:buAutoNum type="arabicParenR"/>
            </a:pPr>
            <a:r>
              <a:rPr lang="en-US" sz="2799" i="1" dirty="0" err="1">
                <a:solidFill>
                  <a:srgbClr val="804F3B"/>
                </a:solidFill>
                <a:latin typeface="Italic"/>
                <a:ea typeface="Raleway"/>
                <a:cs typeface="Raleway"/>
                <a:sym typeface="Raleway"/>
              </a:rPr>
              <a:t>ScreenApp</a:t>
            </a:r>
            <a:r>
              <a:rPr lang="en-US" sz="2799" i="1" dirty="0">
                <a:solidFill>
                  <a:srgbClr val="804F3B"/>
                </a:solidFill>
                <a:latin typeface="Italic"/>
                <a:ea typeface="Raleway"/>
                <a:cs typeface="Raleway"/>
                <a:sym typeface="Raleway"/>
              </a:rPr>
              <a:t>- </a:t>
            </a:r>
            <a:r>
              <a:rPr lang="en-US" sz="2799" i="1" dirty="0">
                <a:solidFill>
                  <a:srgbClr val="804F3B"/>
                </a:solidFill>
                <a:latin typeface="Italic"/>
                <a:ea typeface="Raleway"/>
                <a:cs typeface="Raleway"/>
                <a:sym typeface="Raleway"/>
                <a:hlinkClick r:id="rId2"/>
              </a:rPr>
              <a:t>https://screenapp.io/features/ai-summarizer</a:t>
            </a:r>
            <a:endParaRPr lang="en-US" sz="2799" i="1" dirty="0">
              <a:solidFill>
                <a:srgbClr val="804F3B"/>
              </a:solidFill>
              <a:latin typeface="Italic"/>
              <a:ea typeface="Raleway"/>
              <a:cs typeface="Raleway"/>
              <a:sym typeface="Raleway"/>
            </a:endParaRPr>
          </a:p>
          <a:p>
            <a:pPr marL="514350" indent="-514350">
              <a:lnSpc>
                <a:spcPts val="5038"/>
              </a:lnSpc>
              <a:buFont typeface="+mj-lt"/>
              <a:buAutoNum type="arabicParenR"/>
            </a:pPr>
            <a:r>
              <a:rPr lang="en-US" sz="2799" i="1" dirty="0">
                <a:solidFill>
                  <a:srgbClr val="804F3B"/>
                </a:solidFill>
                <a:latin typeface="Italic"/>
                <a:ea typeface="Raleway"/>
                <a:cs typeface="Raleway"/>
                <a:sym typeface="Raleway"/>
              </a:rPr>
              <a:t>Bossard, A., Généreux, M., </a:t>
            </a:r>
            <a:r>
              <a:rPr lang="en-US" sz="2799" i="1" dirty="0" err="1">
                <a:solidFill>
                  <a:srgbClr val="804F3B"/>
                </a:solidFill>
                <a:latin typeface="Italic"/>
                <a:ea typeface="Raleway"/>
                <a:cs typeface="Raleway"/>
                <a:sym typeface="Raleway"/>
              </a:rPr>
              <a:t>Poibeau</a:t>
            </a:r>
            <a:r>
              <a:rPr lang="en-US" sz="2799" i="1" dirty="0">
                <a:solidFill>
                  <a:srgbClr val="804F3B"/>
                </a:solidFill>
                <a:latin typeface="Italic"/>
                <a:ea typeface="Raleway"/>
                <a:cs typeface="Raleway"/>
                <a:sym typeface="Raleway"/>
              </a:rPr>
              <a:t>, T.: </a:t>
            </a:r>
            <a:r>
              <a:rPr lang="en-US" sz="2799" i="1" dirty="0" err="1">
                <a:solidFill>
                  <a:srgbClr val="804F3B"/>
                </a:solidFill>
                <a:latin typeface="Italic"/>
                <a:ea typeface="Raleway"/>
                <a:cs typeface="Raleway"/>
                <a:sym typeface="Raleway"/>
              </a:rPr>
              <a:t>Cbseas</a:t>
            </a:r>
            <a:r>
              <a:rPr lang="en-US" sz="2799" i="1" dirty="0">
                <a:solidFill>
                  <a:srgbClr val="804F3B"/>
                </a:solidFill>
                <a:latin typeface="Italic"/>
                <a:ea typeface="Raleway"/>
                <a:cs typeface="Raleway"/>
                <a:sym typeface="Raleway"/>
              </a:rPr>
              <a:t>, a summarization system – integration of opinion mining techniques to summarize blogs. In: Proceedings of the 12th Meeting of the European Association for Computational Linguistics (system demonstration), EACL ’09, Athens. Association for Computational Linguistics, Stroudsburg (2009).</a:t>
            </a:r>
          </a:p>
          <a:p>
            <a:pPr marL="514350" indent="-514350">
              <a:lnSpc>
                <a:spcPts val="5038"/>
              </a:lnSpc>
              <a:buFont typeface="+mj-lt"/>
              <a:buAutoNum type="arabicParenR"/>
            </a:pPr>
            <a:r>
              <a:rPr lang="en-US" sz="2799" i="1" dirty="0">
                <a:solidFill>
                  <a:srgbClr val="804F3B"/>
                </a:solidFill>
                <a:latin typeface="Italic"/>
                <a:ea typeface="Raleway"/>
                <a:cs typeface="Raleway"/>
                <a:sym typeface="Raleway"/>
              </a:rPr>
              <a:t>Flask Reference </a:t>
            </a:r>
            <a:r>
              <a:rPr lang="en-US" sz="2799" i="1" dirty="0">
                <a:solidFill>
                  <a:srgbClr val="804F3B"/>
                </a:solidFill>
                <a:latin typeface="Italic"/>
                <a:ea typeface="Raleway"/>
                <a:cs typeface="Raleway"/>
                <a:sym typeface="Raleway"/>
                <a:hlinkClick r:id="rId3"/>
              </a:rPr>
              <a:t>https://github.com/AnujK2901/yt-sum-flask </a:t>
            </a:r>
            <a:endParaRPr lang="en-US" sz="2799" i="1" dirty="0">
              <a:solidFill>
                <a:srgbClr val="804F3B"/>
              </a:solidFill>
              <a:latin typeface="Italic"/>
              <a:ea typeface="Raleway"/>
              <a:cs typeface="Raleway"/>
              <a:sym typeface="Raleway"/>
            </a:endParaRPr>
          </a:p>
          <a:p>
            <a:pPr marL="514350" indent="-514350">
              <a:lnSpc>
                <a:spcPts val="5038"/>
              </a:lnSpc>
              <a:buFont typeface="+mj-lt"/>
              <a:buAutoNum type="arabicParenR"/>
            </a:pPr>
            <a:r>
              <a:rPr lang="en-US" sz="2799" i="1" dirty="0">
                <a:solidFill>
                  <a:srgbClr val="804F3B"/>
                </a:solidFill>
                <a:latin typeface="Italic"/>
                <a:ea typeface="Raleway"/>
                <a:cs typeface="Raleway"/>
                <a:sym typeface="Raleway"/>
              </a:rPr>
              <a:t>Creating Chrome extension </a:t>
            </a:r>
            <a:r>
              <a:rPr lang="en-US" sz="2799" i="1" dirty="0">
                <a:solidFill>
                  <a:srgbClr val="804F3B"/>
                </a:solidFill>
                <a:latin typeface="Italic"/>
                <a:ea typeface="Raleway"/>
                <a:cs typeface="Raleway"/>
                <a:sym typeface="Raleway"/>
                <a:hlinkClick r:id="rId4"/>
              </a:rPr>
              <a:t>https://medium.com/coding-in-simple-english/how-to-createchrome-extension-7dd396e884ef</a:t>
            </a:r>
            <a:endParaRPr lang="en-US" sz="2799" i="1" dirty="0">
              <a:solidFill>
                <a:srgbClr val="804F3B"/>
              </a:solidFill>
              <a:latin typeface="Italic"/>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0D4"/>
        </a:solidFill>
        <a:effectLst/>
      </p:bgPr>
    </p:bg>
    <p:spTree>
      <p:nvGrpSpPr>
        <p:cNvPr id="1" name=""/>
        <p:cNvGrpSpPr/>
        <p:nvPr/>
      </p:nvGrpSpPr>
      <p:grpSpPr>
        <a:xfrm>
          <a:off x="0" y="0"/>
          <a:ext cx="0" cy="0"/>
          <a:chOff x="0" y="0"/>
          <a:chExt cx="0" cy="0"/>
        </a:xfrm>
      </p:grpSpPr>
      <p:grpSp>
        <p:nvGrpSpPr>
          <p:cNvPr id="4" name="Group 4"/>
          <p:cNvGrpSpPr/>
          <p:nvPr/>
        </p:nvGrpSpPr>
        <p:grpSpPr>
          <a:xfrm>
            <a:off x="1028700" y="496206"/>
            <a:ext cx="1018839" cy="1064989"/>
            <a:chOff x="0" y="0"/>
            <a:chExt cx="1358452" cy="1419985"/>
          </a:xfrm>
        </p:grpSpPr>
        <p:sp>
          <p:nvSpPr>
            <p:cNvPr id="5" name="Freeform 5"/>
            <p:cNvSpPr/>
            <p:nvPr/>
          </p:nvSpPr>
          <p:spPr>
            <a:xfrm>
              <a:off x="0" y="0"/>
              <a:ext cx="1358392" cy="1419987"/>
            </a:xfrm>
            <a:custGeom>
              <a:avLst/>
              <a:gdLst/>
              <a:ahLst/>
              <a:cxnLst/>
              <a:rect l="l" t="t" r="r" b="b"/>
              <a:pathLst>
                <a:path w="1358392" h="1419987">
                  <a:moveTo>
                    <a:pt x="0" y="0"/>
                  </a:moveTo>
                  <a:lnTo>
                    <a:pt x="1358392" y="0"/>
                  </a:lnTo>
                  <a:lnTo>
                    <a:pt x="1358392" y="1419987"/>
                  </a:lnTo>
                  <a:lnTo>
                    <a:pt x="0" y="1419987"/>
                  </a:lnTo>
                  <a:lnTo>
                    <a:pt x="0" y="0"/>
                  </a:lnTo>
                  <a:close/>
                </a:path>
              </a:pathLst>
            </a:custGeom>
            <a:blipFill>
              <a:blip r:embed="rId2"/>
              <a:stretch>
                <a:fillRect l="-174" r="-178"/>
              </a:stretch>
            </a:blipFill>
          </p:spPr>
        </p:sp>
      </p:grpSp>
      <p:sp>
        <p:nvSpPr>
          <p:cNvPr id="6" name="TextBox 6"/>
          <p:cNvSpPr txBox="1"/>
          <p:nvPr/>
        </p:nvSpPr>
        <p:spPr>
          <a:xfrm>
            <a:off x="5067300" y="4076700"/>
            <a:ext cx="8153400" cy="3124200"/>
          </a:xfrm>
          <a:prstGeom prst="rect">
            <a:avLst/>
          </a:prstGeom>
        </p:spPr>
        <p:txBody>
          <a:bodyPr wrap="square" lIns="0" tIns="0" rIns="0" bIns="0" rtlCol="0" anchor="t">
            <a:spAutoFit/>
          </a:bodyPr>
          <a:lstStyle/>
          <a:p>
            <a:pPr algn="l">
              <a:lnSpc>
                <a:spcPts val="12000"/>
              </a:lnSpc>
            </a:pPr>
            <a:r>
              <a:rPr lang="en-US" sz="12000" dirty="0">
                <a:solidFill>
                  <a:srgbClr val="804F3B"/>
                </a:solidFill>
                <a:latin typeface="Radley"/>
                <a:ea typeface="Radley"/>
                <a:cs typeface="Radley"/>
                <a:sym typeface="Radley"/>
              </a:rPr>
              <a:t>Thank you!</a:t>
            </a:r>
          </a:p>
          <a:p>
            <a:pPr algn="l">
              <a:lnSpc>
                <a:spcPts val="12000"/>
              </a:lnSpc>
            </a:pPr>
            <a:endParaRPr lang="en-US" sz="12000" dirty="0">
              <a:solidFill>
                <a:srgbClr val="804F3B"/>
              </a:solidFill>
              <a:latin typeface="Radley"/>
              <a:ea typeface="Radley"/>
              <a:cs typeface="Radley"/>
              <a:sym typeface="Radley"/>
            </a:endParaRPr>
          </a:p>
        </p:txBody>
      </p:sp>
      <p:sp>
        <p:nvSpPr>
          <p:cNvPr id="7" name="TextBox 7"/>
          <p:cNvSpPr txBox="1"/>
          <p:nvPr/>
        </p:nvSpPr>
        <p:spPr>
          <a:xfrm>
            <a:off x="2113008" y="631408"/>
            <a:ext cx="2178410" cy="920496"/>
          </a:xfrm>
          <a:prstGeom prst="rect">
            <a:avLst/>
          </a:prstGeom>
        </p:spPr>
        <p:txBody>
          <a:bodyPr lIns="0" tIns="0" rIns="0" bIns="0" rtlCol="0" anchor="t">
            <a:spAutoFit/>
          </a:bodyPr>
          <a:lstStyle/>
          <a:p>
            <a:pPr algn="l">
              <a:lnSpc>
                <a:spcPts val="1871"/>
              </a:lnSpc>
            </a:pPr>
            <a:r>
              <a:rPr lang="en-US" sz="1599" b="1">
                <a:solidFill>
                  <a:srgbClr val="804F3B"/>
                </a:solidFill>
                <a:latin typeface="Raleway Bold"/>
                <a:ea typeface="Raleway Bold"/>
                <a:cs typeface="Raleway Bold"/>
                <a:sym typeface="Raleway Bold"/>
              </a:rPr>
              <a:t>JNTUH UNIVERSITY COLLEGE OF ENGINEERING SULTHANPUR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TotalTime>
  <Words>1443</Words>
  <Application>Microsoft Office PowerPoint</Application>
  <PresentationFormat>Custom</PresentationFormat>
  <Paragraphs>255</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Radley</vt:lpstr>
      <vt:lpstr>Raleway Bold</vt:lpstr>
      <vt:lpstr>Prata</vt:lpstr>
      <vt:lpstr>Wingdings</vt:lpstr>
      <vt:lpstr>Arial</vt:lpstr>
      <vt:lpstr>Italic</vt:lpstr>
      <vt:lpstr>Raleway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Monochrome Simple Minimalist Research Project Final Defense Presentation Template (1).pptx</dc:title>
  <dc:creator>Sai Manas Karupakala</dc:creator>
  <cp:lastModifiedBy>Sai Manas Karupakala</cp:lastModifiedBy>
  <cp:revision>10</cp:revision>
  <dcterms:created xsi:type="dcterms:W3CDTF">2006-08-16T00:00:00Z</dcterms:created>
  <dcterms:modified xsi:type="dcterms:W3CDTF">2025-06-28T05:49:26Z</dcterms:modified>
  <dc:identifier>DAGpOWxwKcE</dc:identifier>
</cp:coreProperties>
</file>